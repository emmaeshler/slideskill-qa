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heme/theme2.xml" ContentType="application/vnd.openxmlformats-officedocument.them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8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s1-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1"/>
  </p:sldIdLst>
  <p:sldSz cx="12192000" cy="6858000"/>
  <p:notesSz cx="7023100" cy="93091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6D3FB1-8E89-4214-818A-CEBE34AC73F2}">
          <p14:sldIdLst>
            <p14:sldId id="2147483646"/>
            <p14:sldId id="262"/>
            <p14:sldId id="258"/>
            <p14:sldId id="259"/>
            <p14:sldId id="260"/>
          </p14:sldIdLst>
        </p14:section>
        <p14:section name="Appendix" id="{25CF4AA7-ECA5-463E-B916-2915A0507AFB}">
          <p14:sldIdLst>
            <p14:sldId id="265"/>
            <p14:sldId id="266"/>
          </p14:sldIdLst>
        </p14:section>
        <p14:section name="Archive" id="{FEF9408E-363A-4CC9-AB28-F9BECE50C840}">
          <p14:sldIdLst>
            <p14:sldId id="261"/>
            <p14:sldId id="256"/>
            <p14:sldId id="25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44832C-07F8-2364-A60F-D2BF29AA4264}" name="Will Hayes" initials="WH" userId="S::whayes@insight2profit.com::770410c4-e4a3-45b5-a274-7b0ba79425ca" providerId="AD"/>
  <p188:author id="{F157BD68-C772-5A2C-3123-01BA99407769}" name="Jonathan Durkee" initials="JD" userId="S::jdurkee@insight2profit.com::f26f9e2e-4fba-4199-97b3-e984d5a29453" providerId="AD"/>
  <p188:author id="{3513F19A-A0F9-4F7A-4F39-11446AB8F4B5}" name="Danielle Cisler" initials="DC" userId="S::dcisler@insight2profit.com::1a59b036-64f6-46ba-abcb-46508f5a800b" providerId="AD"/>
  <p188:author id="{216812D2-4339-BB27-9A8B-27B438708992}" name="Sierra Brooks" initials="SB" userId="S::sbrooks@insight2profit.com::178cb0aa-ff91-4341-b644-b674bc7b6cb4" providerId="AD"/>
  <p188:author id="{B377FFE9-82C2-32B5-4190-AA75791AEE90}" name="Jenna Mustar" initials="JM" userId="S::jmustar@insight2profit.com::23a1059a-620e-4a25-b3b6-4187a9799b63" providerId="AD"/>
  <p188:author id="{775F04EA-1D5C-B26B-EFA3-D5B15E0E804C}" name="Christopher Cole" initials="CC" userId="S::ccole@insight2profit.com::2fbc9c5e-13b4-42d7-8114-e419fcd451c5" providerId="AD"/>
  <p188:author id="{93F389EA-2D2A-7989-91BE-0D1B37BC3943}" name="Jay Yellen" initials="JY" userId="S::jyellen@insight2profit.com::abcb4192-3d0e-4558-82a8-b8e9cfae00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  <a:srgbClr val="FEFEFC"/>
    <a:srgbClr val="FCFCFC"/>
    <a:srgbClr val="00466E"/>
    <a:srgbClr val="1A6B83"/>
    <a:srgbClr val="FCE1CD"/>
    <a:srgbClr val="FEF1E8"/>
    <a:srgbClr val="F4FAFE"/>
    <a:srgbClr val="FFFFFF"/>
    <a:srgbClr val="00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71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17" Type="http://schemas.openxmlformats.org/officeDocument/2006/relationships/theme" Target="theme/them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14" Type="http://schemas.openxmlformats.org/officeDocument/2006/relationships/tags" Target="tags/tag1.xml"/><Relationship Id="rId2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yes" userId="770410c4-e4a3-45b5-a274-7b0ba79425ca" providerId="ADAL" clId="{A7943A11-365B-40CA-A7EB-7B5350707336}"/>
    <pc:docChg chg="undo custSel addSld delSld modSld sldOrd modSection">
      <pc:chgData name="Will Hayes" userId="770410c4-e4a3-45b5-a274-7b0ba79425ca" providerId="ADAL" clId="{A7943A11-365B-40CA-A7EB-7B5350707336}" dt="2026-06-22T20:20:37.263" v="2591" actId="47"/>
      <pc:docMkLst>
        <pc:docMk/>
      </pc:docMkLst>
      <pc:sldChg chg="new del">
        <pc:chgData name="Will Hayes" userId="770410c4-e4a3-45b5-a274-7b0ba79425ca" providerId="ADAL" clId="{A7943A11-365B-40CA-A7EB-7B5350707336}" dt="2026-06-22T20:20:37.263" v="2591" actId="47"/>
        <pc:sldMkLst>
          <pc:docMk/>
          <pc:sldMk cId="1513627849" sldId="26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riceforprofit-my.sharepoint.com/personal/whayes_insight2profit_com/Documents/Documents/Board_Deck_2025111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s1-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s1-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B35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%</a:t>
            </a:r>
            <a:r>
              <a:rPr lang="en-US" b="1" baseline="0">
                <a:solidFill>
                  <a:schemeClr val="tx1"/>
                </a:solidFill>
              </a:rPr>
              <a:t> of </a:t>
            </a:r>
            <a:r>
              <a:rPr lang="en-US" b="1">
                <a:solidFill>
                  <a:schemeClr val="tx1"/>
                </a:solidFill>
              </a:rPr>
              <a:t>INSIGHTers with High-Usage in AskINSIGHT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65560752865617"/>
          <c:y val="0.13272960504159304"/>
          <c:w val="0.84217061428241746"/>
          <c:h val="0.586314732063931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446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75F63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Usage!$D$18:$E$28</c:f>
              <c:multiLvlStrCache>
                <c:ptCount val="11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  <c:pt idx="3">
                    <c:v>September</c:v>
                  </c:pt>
                  <c:pt idx="4">
                    <c:v>October</c:v>
                  </c:pt>
                  <c:pt idx="5">
                    <c:v>November</c:v>
                  </c:pt>
                  <c:pt idx="6">
                    <c:v>December</c:v>
                  </c:pt>
                  <c:pt idx="7">
                    <c:v>January</c:v>
                  </c:pt>
                  <c:pt idx="8">
                    <c:v>February</c:v>
                  </c:pt>
                  <c:pt idx="9">
                    <c:v>March</c:v>
                  </c:pt>
                  <c:pt idx="10">
                    <c:v>April</c:v>
                  </c:pt>
                </c:lvl>
                <c:lvl>
                  <c:pt idx="0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Usage!$F$18:$F$28</c:f>
              <c:numCache>
                <c:formatCode>0%</c:formatCode>
                <c:ptCount val="11"/>
                <c:pt idx="0">
                  <c:v>3.7383177570093455E-2</c:v>
                </c:pt>
                <c:pt idx="1">
                  <c:v>0.14485981308411214</c:v>
                </c:pt>
                <c:pt idx="2">
                  <c:v>0.14953271028037382</c:v>
                </c:pt>
                <c:pt idx="3">
                  <c:v>0.23831775700934579</c:v>
                </c:pt>
                <c:pt idx="4">
                  <c:v>0.35514018691588783</c:v>
                </c:pt>
                <c:pt idx="5">
                  <c:v>0.29439252336448596</c:v>
                </c:pt>
                <c:pt idx="6">
                  <c:v>0.29906542056074764</c:v>
                </c:pt>
                <c:pt idx="7">
                  <c:v>0.42523364485981308</c:v>
                </c:pt>
                <c:pt idx="8">
                  <c:v>0.45327102803738317</c:v>
                </c:pt>
                <c:pt idx="9">
                  <c:v>0.53738317757009346</c:v>
                </c:pt>
                <c:pt idx="10">
                  <c:v>0.49065420560747663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74-4F75-AF71-C9F3CCC57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4"/>
        <c:overlap val="-27"/>
        <c:axId val="1340483776"/>
        <c:axId val="1340484256"/>
      </c:barChart>
      <c:catAx>
        <c:axId val="1340483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4256"/>
        <c:crosses val="autoZero"/>
        <c:auto val="1"/>
        <c:lblAlgn val="ctr"/>
        <c:lblOffset val="100"/>
        <c:noMultiLvlLbl val="0"/>
      </c:catAx>
      <c:valAx>
        <c:axId val="1340484256"/>
        <c:scaling>
          <c:orientation val="minMax"/>
          <c:max val="1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0483776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1-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Annualized Leakage ($M)</c:v>
                </c:pt>
              </c:strCache>
            </c:strRef>
          </c:tx>
          <c:spPr>
            <a:solidFill>
              <a:srgbClr val="00446A"/>
            </a:solidFill>
            <a:effectLst/>
          </c:spPr>
          <c:invertIfNegative val="0"/>
          <c:dLbls>
            <c:numFmt formatCode="$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75787B"/>
                    </a:solidFill>
                    <a:latin typeface="Arial Narr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Great Lakes Machine &amp; Tool</c:v>
                  </c:pt>
                  <c:pt idx="1">
                    <c:v>Southeastern Process Equip.</c:v>
                  </c:pt>
                  <c:pt idx="2">
                    <c:v>Ohio Valley Fabrication</c:v>
                  </c:pt>
                  <c:pt idx="3">
                    <c:v>Cornerstone Contractors</c:v>
                  </c:pt>
                  <c:pt idx="4">
                    <c:v>Blue Ridge Maintenance</c:v>
                  </c:pt>
                  <c:pt idx="5">
                    <c:v>Prairie State Bearing</c:v>
                  </c:pt>
                  <c:pt idx="6">
                    <c:v>Gulf Coast Industrial</c:v>
                  </c:pt>
                  <c:pt idx="7">
                    <c:v>Northland Equipment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</c:v>
                </c:pt>
                <c:pt idx="1">
                  <c:v>4.1</c:v>
                </c:pt>
                <c:pt idx="2">
                  <c:v>3.6</c:v>
                </c:pt>
                <c:pt idx="3">
                  <c:v>2.9</c:v>
                </c:pt>
                <c:pt idx="4">
                  <c:v>2.3</c:v>
                </c:pt>
                <c:pt idx="5">
                  <c:v>1.9</c:v>
                </c:pt>
                <c:pt idx="6">
                  <c:v>1.6</c:v>
                </c:pt>
                <c:pt idx="7">
                  <c:v>1.2</c:v>
                </c:pt>
              </c:numCache>
            </c:numRef>
          </c:val>
        </c:ser>
        <c:dLbls>
          <c:numFmt formatCode="$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75787B"/>
                  </a:solidFill>
                  <a:latin typeface="Arial Narro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b8cb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87B"/>
                </a:solidFill>
                <a:latin typeface="Arial Narro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AA97C869-24B8-4A8F-A0A1-CA51CAEE491A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320CB3AF-E0F4-4D9D-8BAD-FF9D54C3D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8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7.svg"/><Relationship Id="rId5" Type="http://schemas.openxmlformats.org/officeDocument/2006/relationships/image" Target="../media/image1.png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image" Target="../media/image10.jpeg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1.jpeg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7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1.bin"/><Relationship Id="rId7" Type="http://schemas.openxmlformats.org/officeDocument/2006/relationships/hyperlink" Target="https://www.insight2profit.com/" TargetMode="External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9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Page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C773FF76-1E19-8FAF-E128-FCB90DF31D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618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C773FF76-1E19-8FAF-E128-FCB90DF31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8655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52383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743072"/>
            <a:ext cx="11430000" cy="58152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2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2D56E-A9D4-4291-B4FE-F84042D8BFF4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43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. Title Page -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887B3C5B-86D2-0539-61C1-91A01DA810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11260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887B3C5B-86D2-0539-61C1-91A01DA81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4484890"/>
            <a:ext cx="11430000" cy="1372776"/>
          </a:xfrm>
        </p:spPr>
        <p:txBody>
          <a:bodyPr vert="horz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0" kern="1200" cap="all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885245"/>
            <a:ext cx="11430000" cy="43935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E56910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735D9-C24D-E6D2-9F34-BB3B0BB37BE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057650" y="3067008"/>
            <a:ext cx="4076700" cy="137277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Client Logo Centered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BA865-3B99-ED72-C8F9-7D5B4E234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552F1-A2B2-3537-187A-CDF240D017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03228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. Title Page - No Client Logo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8A4EEDF-42FE-8AE6-F6FD-E9AD749074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88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A4EEDF-42FE-8AE6-F6FD-E9AD749074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3141648"/>
            <a:ext cx="11430000" cy="1372776"/>
          </a:xfrm>
        </p:spPr>
        <p:txBody>
          <a:bodyPr vert="horz" anchor="ctr">
            <a:normAutofit/>
          </a:bodyPr>
          <a:lstStyle>
            <a:lvl1pPr algn="ctr">
              <a:defRPr sz="3200" b="0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of</a:t>
            </a:r>
            <a:br>
              <a:rPr lang="en-US"/>
            </a:br>
            <a:r>
              <a:rPr lang="en-US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000" y="4704925"/>
            <a:ext cx="11430000" cy="504747"/>
          </a:xfrm>
        </p:spPr>
        <p:txBody>
          <a:bodyPr>
            <a:normAutofit/>
          </a:bodyPr>
          <a:lstStyle>
            <a:lvl1pPr marL="0" indent="0" algn="ctr">
              <a:buNone/>
              <a:defRPr sz="20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Client company name (no logo)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5429250"/>
            <a:ext cx="11430000" cy="58102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/>
              <a:t>Date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tx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3902C-4660-2783-21FE-266A42FF3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2373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4CA91-AC8B-6E85-2DAE-11EAE814C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3060" y="759716"/>
            <a:ext cx="5715000" cy="85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385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2508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5484"/>
            <a:ext cx="11425238" cy="510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0055224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37F7E7-A597-9BF8-D34B-CFE5E0A33E2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436225" y="206375"/>
            <a:ext cx="1370013" cy="896938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Client Logo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4226842-63E7-5928-6264-B3CDC2CBB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6"/>
            <a:ext cx="8917557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</p:spTree>
    <p:extLst>
      <p:ext uri="{BB962C8B-B14F-4D97-AF65-F5344CB8AC3E}">
        <p14:creationId xmlns:p14="http://schemas.microsoft.com/office/powerpoint/2010/main" val="412824641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. 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28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225484"/>
            <a:ext cx="11429999" cy="5105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0" y="5632517"/>
            <a:ext cx="8917557" cy="698081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4C890AC-CF3F-F51F-51A1-532E17668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4600093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3ED4494-18E4-E089-39A5-C1B56F8FE5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7184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ED4494-18E4-E089-39A5-C1B56F8FE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1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3623" y="1224111"/>
            <a:ext cx="5601787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4128026-75FF-B379-0389-B7454A8C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805633A-316B-641E-AC80-DC9D0A7D2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51EA372-B231-9920-4D72-6AED6490D9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03781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. 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284FA7F-23A5-7D51-BDAF-4D04D11C3C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294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4FA7F-23A5-7D51-BDAF-4D04D11C3C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004" y="1221103"/>
            <a:ext cx="3657600" cy="5102352"/>
          </a:xfrm>
        </p:spPr>
        <p:txBody>
          <a:bodyPr>
            <a:normAutofit/>
          </a:bodyPr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51955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5"/>
          </p:nvPr>
        </p:nvSpPr>
        <p:spPr>
          <a:xfrm>
            <a:off x="4259384" y="1221103"/>
            <a:ext cx="3657600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677E8-6A22-0D70-58AF-022466A3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0089ADB-DE0E-1A9D-B046-EDBDA8A3A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20FBED9-3A5E-BB23-A5E7-3B1F32CE95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01705961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. Visual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48D3BC3-A98A-952D-F287-C846FC7AE8F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62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D3BC3-A98A-952D-F287-C846FC7AE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21104"/>
            <a:ext cx="5623560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85864" y="1221104"/>
            <a:ext cx="5623560" cy="3165339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6185864" y="4417469"/>
            <a:ext cx="5623560" cy="190360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0DC63-B13A-1EE1-4162-92F5B31E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1B7452E-E0AA-091B-E417-526FBA5195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646C406-AB2A-4E22-DB71-471F8708BE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16762390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. Visual &amp; Bulle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ED50C32-67A4-EC38-A669-4CBF5631C4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5481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D50C32-67A4-EC38-A669-4CBF5631C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1" y="1221104"/>
            <a:ext cx="11429998" cy="3165339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81000" y="4418013"/>
            <a:ext cx="11429997" cy="1903059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EC3DF-E6AB-2907-7792-E9889854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F409AE7-DD55-6345-3C9D-F60697CE0B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E9E1820-9527-B2F4-8F0E-F3C7CECBAA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13421150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. Side by Side Tex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B74A99A-2063-E3D0-BEEB-56B7F3FC73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7737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74A99A-2063-E3D0-BEEB-56B7F3FC73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4158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158" y="1718362"/>
            <a:ext cx="5638797" cy="45967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224006"/>
            <a:ext cx="5638798" cy="47530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Sub-Head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18362"/>
            <a:ext cx="5641518" cy="459318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EE08B1-97D7-18A8-0BAE-907C65B57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51466061-78EE-CB7E-80A3-7FAA7C6D0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147E556-36CA-9F16-80ED-EA7038E57A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59908050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. Lef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E5F458A6-98A0-D8AC-4BC1-0CC828CBC0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0236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F458A6-98A0-D8AC-4BC1-0CC828CBC0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1000" y="1219761"/>
            <a:ext cx="6916004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97002" y="1219760"/>
            <a:ext cx="4513998" cy="510235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F45E-9FDE-85FF-695E-C25BF0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0E1F9FBA-ECF2-2431-22C4-EABF75DE9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92CEE53-6B06-3DF0-2825-58B0ADC256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17756675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. Right Visual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14A41B0-BD59-812A-DF96-5E46C890D8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322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4A41B0-BD59-812A-DF96-5E46C890D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00082" y="1221104"/>
            <a:ext cx="6910918" cy="5102352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81000" y="1221104"/>
            <a:ext cx="4513793" cy="510235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600">
                <a:latin typeface="Arial Narrow" panose="020B0606020202030204" pitchFamily="34" charset="0"/>
              </a:defRPr>
            </a:lvl1pPr>
            <a:lvl2pPr>
              <a:defRPr sz="1600">
                <a:latin typeface="Arial Narrow" panose="020B0606020202030204" pitchFamily="34" charset="0"/>
              </a:defRPr>
            </a:lvl2pPr>
            <a:lvl3pPr>
              <a:defRPr sz="1600">
                <a:latin typeface="Arial Narrow" panose="020B0606020202030204" pitchFamily="34" charset="0"/>
              </a:defRPr>
            </a:lvl3pPr>
            <a:lvl4pPr>
              <a:defRPr sz="1600">
                <a:latin typeface="Arial Narrow" panose="020B0606020202030204" pitchFamily="34" charset="0"/>
              </a:defRPr>
            </a:lvl4pPr>
            <a:lvl5pPr>
              <a:defRPr sz="16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C60F5-D261-EE9C-4383-ADAFB6CF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11429999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0B7099F-9603-A0EB-C825-E87B154E9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21073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A889DF2-543F-C050-041A-BBC1FE0047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40909983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. Left Conten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246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6D00DC-2D9E-DCC3-6056-58D227832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725" y="0"/>
            <a:ext cx="2771275" cy="6858000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CE5BF59-C2F3-39A1-C215-5FCC86C65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3589" y="565249"/>
            <a:ext cx="2157412" cy="552376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1857D0B-F20B-E821-D1E2-943E5B25DC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53589" y="1214437"/>
            <a:ext cx="2157412" cy="5102352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D2710282-D2C6-E90D-6043-0A378BB3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6103"/>
            <a:ext cx="870585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C928CC-0EB0-EABA-BE2C-AF9A4EDE4B0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80999" y="1218888"/>
            <a:ext cx="8705849" cy="5102352"/>
          </a:xfrm>
        </p:spPr>
        <p:txBody>
          <a:bodyPr anchor="ctr"/>
          <a:lstStyle>
            <a:lvl1pPr marL="0" indent="0">
              <a:buNone/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on icon to add visual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4D78ADF-DDDA-04CC-1FA5-5F63D3A894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-9059"/>
            <a:ext cx="11430000" cy="199559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D0F3E-ED74-23F2-CC5D-DF431B946920}"/>
              </a:ext>
            </a:extLst>
          </p:cNvPr>
          <p:cNvCxnSpPr>
            <a:cxnSpLocks/>
          </p:cNvCxnSpPr>
          <p:nvPr/>
        </p:nvCxnSpPr>
        <p:spPr>
          <a:xfrm>
            <a:off x="381000" y="6322387"/>
            <a:ext cx="8705850" cy="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40B664C-CCA5-348F-B9A2-748E25D0781C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83BC86-40AE-D7AD-7C72-5CCDE633363A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B3C98-E550-5169-DDA6-587E8D47DCB8}"/>
              </a:ext>
            </a:extLst>
          </p:cNvPr>
          <p:cNvCxnSpPr>
            <a:cxnSpLocks/>
          </p:cNvCxnSpPr>
          <p:nvPr userDrawn="1"/>
        </p:nvCxnSpPr>
        <p:spPr>
          <a:xfrm>
            <a:off x="381000" y="1112556"/>
            <a:ext cx="8705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F2C9910-B633-28C7-93F1-DEE69305FA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0497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Blank with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3934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FBD4EC2-0298-5DFE-707B-1A41BB1AC67C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06" imgH="306" progId="TCLayout.ActiveDocument.1">
                  <p:embed/>
                </p:oleObj>
              </mc:Choice>
              <mc:Fallback>
                <p:oleObj name="think-cell Slide" r:id="rId9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FBD4EC2-0298-5DFE-707B-1A41BB1AC6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06088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16710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4CA0B1-1002-3FEB-D918-E11D3AC2E9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90500"/>
            <a:ext cx="11430000" cy="6134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331641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Divider Pri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88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177E82D-133F-7412-4101-B48BC3B69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Divider Primary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617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FEB97B4D-D4B2-A1A3-8C8B-97DF7F655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91875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94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7F6302D-B8EE-1278-0C4F-0CE841141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3525ECB4-0E52-B934-51A0-BC6425F6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8290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4809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1CEB6B-800F-1743-4149-8AAA92B9A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/>
        </p:blipFill>
        <p:spPr>
          <a:xfrm>
            <a:off x="608" y="0"/>
            <a:ext cx="12191392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83216D2-1BB3-AAA9-CBD3-C1E0CC727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111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8563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A932061-6A09-7471-31C4-E4A11CEC0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8" b="5408"/>
          <a:stretch/>
        </p:blipFill>
        <p:spPr>
          <a:xfrm>
            <a:off x="-1708" y="0"/>
            <a:ext cx="12193708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9B4ABBB3-846F-0C27-2723-4495DBEF2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307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8950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586330D-046E-2B95-720A-3F55451F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-1" y="-1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 descr="A picture containing font, text, graphics, graphic design&#10;&#10;Description automatically generated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099" y="6222066"/>
            <a:ext cx="2268158" cy="338806"/>
          </a:xfrm>
          <a:prstGeom prst="rect">
            <a:avLst/>
          </a:prstGeom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847EBE23-50A6-D636-57F1-DD05AE45F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7849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2_Divider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417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43FF452-33BE-70CB-234E-B43AB9B18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blue, screenshot, electric blue, blur&#10;&#10;Description automatically generated">
            <a:extLst>
              <a:ext uri="{FF2B5EF4-FFF2-40B4-BE49-F238E27FC236}">
                <a16:creationId xmlns:a16="http://schemas.microsoft.com/office/drawing/2014/main" id="{6E03FF4D-4D5B-847E-E068-949FD36B60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7852" y="2502568"/>
            <a:ext cx="10977722" cy="1462942"/>
          </a:xfrm>
        </p:spPr>
        <p:txBody>
          <a:bodyPr vert="horz" anchor="b">
            <a:normAutofit/>
          </a:bodyPr>
          <a:lstStyle>
            <a:lvl1pPr>
              <a:defRPr sz="40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7851" y="4011954"/>
            <a:ext cx="10977723" cy="1487042"/>
          </a:xfrm>
        </p:spPr>
        <p:txBody>
          <a:bodyPr/>
          <a:lstStyle>
            <a:lvl1pPr marL="0" indent="0">
              <a:buNone/>
              <a:defRPr sz="2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 (optional)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EE2715-F3B7-9C8D-51DF-4221BE1E96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A0D745C8-D95B-45C3-2A0F-03DF3FE69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 rot="5400000">
            <a:off x="154477" y="3312904"/>
            <a:ext cx="540464" cy="54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5695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3_Thank You with 1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9704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B7D5AD6-D92A-AF45-E015-E54ACFA45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024125"/>
            <a:ext cx="11430000" cy="1157475"/>
          </a:xfrm>
        </p:spPr>
        <p:txBody>
          <a:bodyPr vert="horz" anchor="ctr">
            <a:norm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 err="1"/>
              <a:t>xxx.xxx.xxxx</a:t>
            </a:r>
            <a:br>
              <a:rPr lang="en-US"/>
            </a:br>
            <a:r>
              <a:rPr lang="en-US"/>
              <a:t>email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B5EA3-3F29-5D09-9B3D-322191E28409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15453770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4_Thank You No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53BCDCB-F0CD-C1D6-E09D-91A3DE81B3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6238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53BCDCB-F0CD-C1D6-E09D-91A3DE81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474A3B0-0664-2364-ADA3-D26C87722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6857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5435F3-5E1D-5545-BEE0-4F5005AE0B25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CF411973-43C6-7ED2-E224-2781691FB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25767" y="5486462"/>
            <a:ext cx="540464" cy="540464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639D71F9-00BC-CDCB-EC9B-BA7E6A2038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043" y="3429000"/>
            <a:ext cx="5773913" cy="862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EB4C9-1931-6856-B6CC-3B9B10899687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2098884467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1 Contact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622D70B-2CE6-A402-CD4D-CF40535AC1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5827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2D70B-2CE6-A402-CD4D-CF40535AC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00097" y="4013493"/>
            <a:ext cx="3295318" cy="1157475"/>
          </a:xfrm>
        </p:spPr>
        <p:txBody>
          <a:bodyPr vert="horz" anchor="ctr">
            <a:normAutofit/>
          </a:bodyPr>
          <a:lstStyle>
            <a:lvl1pPr algn="ctr">
              <a:defRPr sz="1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Contact Info – Name</a:t>
            </a:r>
            <a:br>
              <a:rPr lang="en-US"/>
            </a:br>
            <a:r>
              <a:rPr lang="en-US"/>
              <a:t>+1 </a:t>
            </a:r>
            <a:r>
              <a:rPr lang="en-US" err="1"/>
              <a:t>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8873E89-78BD-C8F6-80A9-2692575323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1310" y="4013681"/>
            <a:ext cx="1149350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9AF3687E-8BFE-6A49-26DB-CD21B82436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DFF1A-71F5-4447-B34F-3AFEF05AC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398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Thank You with 2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747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4807" y="4024125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41670" y="4024125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661" y="4024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4024125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5F8B139D-1C8A-A3DA-3EB4-106699FD9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B7E11-3A58-6E9B-0AF8-15C78D5073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04397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_Thank You with 3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2583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51029" y="4024123"/>
            <a:ext cx="244181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7892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7461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F7EDC06A-ADD9-8EEF-4C1D-EC327F73EA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EEE730AB-7B89-24FE-2023-2AE4594DD5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2686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1" name="Text Placeholder 35">
            <a:extLst>
              <a:ext uri="{FF2B5EF4-FFF2-40B4-BE49-F238E27FC236}">
                <a16:creationId xmlns:a16="http://schemas.microsoft.com/office/drawing/2014/main" id="{60953E08-1865-633D-DA00-ED2D561AD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5853" y="4024123"/>
            <a:ext cx="2441448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B835C76D-8B22-BFFA-A5EB-3EF1A23370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17030" y="4024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E1E149-7944-8BBE-1B53-532DB3E10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5132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_Thank You with 4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4974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11513" y="376893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"/>
            <a:ext cx="12192000" cy="3571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0" y="1287266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0482" y="376893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8045" y="376893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48503" y="376893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0482" y="502712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78045" y="502712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8503" y="502712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513" y="502761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CC2D6268-97FF-1F72-4B95-78E2A80C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2726601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0C6143-4A05-30E0-E393-98DA33B95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25141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8_Thank You with 6 Contacts (Print Optimiz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687DEC1-EA2E-04BC-CA78-03F3E5C63B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85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87DEC1-EA2E-04BC-CA78-03F3E5C63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7173" y="3812068"/>
            <a:ext cx="3838755" cy="1157475"/>
          </a:xfrm>
        </p:spPr>
        <p:txBody>
          <a:bodyPr vert="horz" anchor="t">
            <a:normAutofit/>
          </a:bodyPr>
          <a:lstStyle>
            <a:lvl1pPr algn="l">
              <a:defRPr sz="1800" b="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3EE77-5D77-0EF8-5C62-BBAE3FC10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2215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E442E-5309-2D39-1CF2-091A762DC6B3}"/>
              </a:ext>
            </a:extLst>
          </p:cNvPr>
          <p:cNvSpPr txBox="1"/>
          <p:nvPr/>
        </p:nvSpPr>
        <p:spPr>
          <a:xfrm>
            <a:off x="-77637" y="147135"/>
            <a:ext cx="12192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>
                <a:solidFill>
                  <a:schemeClr val="bg1"/>
                </a:solidFill>
                <a:latin typeface="Cochocib Script Latin Pro" panose="020B0604020202020204" pitchFamily="2" charset="0"/>
              </a:rPr>
              <a:t>Thank you!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A1C8672-7E5D-3B47-36B4-3B7071A7B5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9451" y="3812068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450D1873-EC32-1F34-13AD-337403725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3775" y="381206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649939-11AB-AE18-8E1A-60B900E66E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70869" y="3812068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E7F47E50-E8DA-8D56-5B50-28FEA488F8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9451" y="5070254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D6AD4881-1321-4A28-E4F8-7016794874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3775" y="5070253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658E078F-4BF8-E095-8F5A-D25FB1D9B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70869" y="5070254"/>
            <a:ext cx="3838575" cy="115728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b="0" baseline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168275" lvl="0" indent="-168275">
              <a:spcBef>
                <a:spcPct val="0"/>
              </a:spcBef>
            </a:pPr>
            <a:r>
              <a:rPr lang="en-US"/>
              <a:t>Name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Title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+1 XXX.XXX.XXXX</a:t>
            </a:r>
          </a:p>
          <a:p>
            <a:pPr marL="168275" lvl="0" indent="-168275">
              <a:spcBef>
                <a:spcPct val="0"/>
              </a:spcBef>
            </a:pPr>
            <a:r>
              <a:rPr lang="en-US"/>
              <a:t>@insight2profit.com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831B121-F703-8968-00DE-8C40E573C8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3878" y="5070743"/>
            <a:ext cx="3841333" cy="1157287"/>
          </a:xfrm>
        </p:spPr>
        <p:txBody>
          <a:bodyPr/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Title</a:t>
            </a:r>
            <a:br>
              <a:rPr lang="en-US"/>
            </a:br>
            <a:r>
              <a:rPr lang="en-US"/>
              <a:t>+1 XXX.XXX.XXXX</a:t>
            </a:r>
            <a:br>
              <a:rPr lang="en-US"/>
            </a:br>
            <a:r>
              <a:rPr lang="en-US"/>
              <a:t>@insight2profit.com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5E1383F3-B003-025B-6524-07171AC30A0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49451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1045F2-24E3-E700-F580-77BE04A4D3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33778" y="2554077"/>
            <a:ext cx="3838575" cy="1157288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17303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2pPr>
            <a:lvl3pPr marL="398462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3pPr>
            <a:lvl4pPr marL="57150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4pPr>
            <a:lvl5pPr marL="801688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+1 XXX.XXX.XXXX</a:t>
            </a:r>
          </a:p>
          <a:p>
            <a:pPr lvl="0"/>
            <a:r>
              <a:rPr lang="en-US"/>
              <a:t>@insight2profit.com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791D8299-5A60-6D4E-4CA1-973B931F8B8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75" y="2554077"/>
            <a:ext cx="1165225" cy="11572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0E63566-8617-A210-937E-7C751B573D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0777" y="2554077"/>
            <a:ext cx="3838574" cy="1157092"/>
          </a:xfrm>
        </p:spPr>
        <p:txBody>
          <a:bodyPr>
            <a:normAutofit/>
          </a:bodyPr>
          <a:lstStyle>
            <a:lvl1pPr marL="0" indent="0">
              <a:buNone/>
              <a:defRPr lang="en-US" sz="1800" b="0" kern="120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Name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Title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+1 XXX.XXX.XXXX</a:t>
            </a:r>
          </a:p>
          <a:p>
            <a:pPr marL="168275" lvl="0" indent="-168275" algn="l" defTabSz="91440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None/>
            </a:pPr>
            <a:r>
              <a:rPr lang="en-US"/>
              <a:t>@insight2profit.com</a:t>
            </a:r>
          </a:p>
        </p:txBody>
      </p:sp>
      <p:pic>
        <p:nvPicPr>
          <p:cNvPr id="3" name="Picture 21">
            <a:extLst>
              <a:ext uri="{FF2B5EF4-FFF2-40B4-BE49-F238E27FC236}">
                <a16:creationId xmlns:a16="http://schemas.microsoft.com/office/drawing/2014/main" id="{F76298DC-50CF-F1D8-10D5-C0F4205B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140217" y="1459776"/>
            <a:ext cx="540464" cy="540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41BFBF-9BEE-1E40-81C0-1A89B2613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0099" y="6222066"/>
            <a:ext cx="2268157" cy="33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54231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9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DEE4C7-9AE5-4C04-E4D1-AA58787CE9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2114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BDEE4C7-9AE5-4C04-E4D1-AA58787CE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445566-DF38-9337-5B49-45A3A7D37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Picture 6" descr="A picture containing screenshot, black, square&#10;&#10;Description automatically generated">
            <a:extLst>
              <a:ext uri="{FF2B5EF4-FFF2-40B4-BE49-F238E27FC236}">
                <a16:creationId xmlns:a16="http://schemas.microsoft.com/office/drawing/2014/main" id="{03CB0D36-E5F4-D6EE-B9B2-39C6FF24E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43CDF15C-34AB-49BD-7AFB-9F27CAFE06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688" y="2025458"/>
            <a:ext cx="5715000" cy="853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6FC917-3065-0000-DCB0-0BC8AD0AA403}"/>
              </a:ext>
            </a:extLst>
          </p:cNvPr>
          <p:cNvSpPr txBox="1"/>
          <p:nvPr/>
        </p:nvSpPr>
        <p:spPr>
          <a:xfrm>
            <a:off x="7001026" y="6651290"/>
            <a:ext cx="518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>
              <a:defRPr/>
            </a:pPr>
            <a:r>
              <a:rPr lang="en-US" sz="600">
                <a:solidFill>
                  <a:schemeClr val="bg1"/>
                </a:solidFill>
                <a:latin typeface="Arial"/>
                <a:cs typeface="Arial"/>
              </a:rPr>
              <a:t>© INSIGHT2PROFIT | Content Proprietary &amp; Confidential. </a:t>
            </a:r>
          </a:p>
        </p:txBody>
      </p:sp>
    </p:spTree>
    <p:extLst>
      <p:ext uri="{BB962C8B-B14F-4D97-AF65-F5344CB8AC3E}">
        <p14:creationId xmlns:p14="http://schemas.microsoft.com/office/powerpoint/2010/main" val="372277366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5B21452-9931-48CD-A9D9-2C40EF9320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5B21452-9931-48CD-A9D9-2C40EF932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F933E9-ABEB-41C9-AAF3-01C5D400781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F933E9-ABEB-41C9-AAF3-01C5D4007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A8E90A1-F986-088E-6747-35064F306B4B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A8E90A1-F986-088E-6747-35064F306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4C5C362-86A5-3D8C-16F7-1BB27FC6A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978" y="1225484"/>
            <a:ext cx="11050893" cy="4983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 marL="1200150" indent="-230188">
              <a:tabLst>
                <a:tab pos="1201738" algn="l"/>
              </a:tabLst>
              <a:defRPr sz="16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7FDE2D5-6460-E2BF-5EED-6EE58C49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" y="206103"/>
            <a:ext cx="11055096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05C0A-C14E-9823-31FB-65CC47C3A67F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1F453ED-F639-4DFF-09D2-A06357420991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1F453ED-F639-4DFF-09D2-A06357420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40BF9B-4E42-8828-A4A3-37EC4260A821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B8D3C2B-B474-1117-A4DA-062BC848EDF7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B8D3C2B-B474-1117-A4DA-062BC848E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605B90-EE15-6A93-933C-99BC2D9D9A7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BC5D786-B182-3207-F40D-28F0E668370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99267" y="6330598"/>
            <a:ext cx="8720668" cy="527401"/>
          </a:xfrm>
        </p:spPr>
        <p:txBody>
          <a:bodyPr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4ADF65C-FDB2-0226-BE1B-5B88C2EF4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66"/>
            <a:ext cx="12192000" cy="205103"/>
          </a:xfrm>
          <a:noFill/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cap="all" baseline="0">
                <a:solidFill>
                  <a:srgbClr val="666666"/>
                </a:solidFill>
                <a:latin typeface="+mn-lt"/>
              </a:defRPr>
            </a:lvl1pPr>
            <a:lvl2pPr marL="166687" indent="0">
              <a:buFont typeface="Arial" panose="020B0604020202020204" pitchFamily="34" charset="0"/>
              <a:buNone/>
              <a:defRPr/>
            </a:lvl2pPr>
            <a:lvl3pPr marL="347662" indent="0">
              <a:buFont typeface="Arial" panose="020B0604020202020204" pitchFamily="34" charset="0"/>
              <a:buNone/>
              <a:defRPr/>
            </a:lvl3pPr>
            <a:lvl4pPr marL="512762" indent="0">
              <a:buFont typeface="Arial" panose="020B0604020202020204" pitchFamily="34" charset="0"/>
              <a:buNone/>
              <a:defRPr/>
            </a:lvl4pPr>
            <a:lvl5pPr marL="746125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8CD3B538-22A2-72A4-711C-A0346111AF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889" y="5632516"/>
            <a:ext cx="8720668" cy="698083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000"/>
            </a:lvl1pPr>
          </a:lstStyle>
          <a:p>
            <a:pPr lvl="0"/>
            <a:r>
              <a:rPr lang="en-US"/>
              <a:t>Footnotes</a:t>
            </a:r>
          </a:p>
        </p:txBody>
      </p:sp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CF6F42E9-3A55-91F9-21AE-844DAEED8817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899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CF6F42E9-3A55-91F9-21AE-844DAEED8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7BE8F7-7DA5-D2C3-12AC-4E6339778810}"/>
              </a:ext>
            </a:extLst>
          </p:cNvPr>
          <p:cNvCxnSpPr>
            <a:cxnSpLocks/>
          </p:cNvCxnSpPr>
          <p:nvPr/>
        </p:nvCxnSpPr>
        <p:spPr>
          <a:xfrm flipV="1">
            <a:off x="577889" y="1103847"/>
            <a:ext cx="11055096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7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06103"/>
            <a:ext cx="11430000" cy="89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20893"/>
            <a:ext cx="11430000" cy="5105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9CADAD-AB70-45AD-A164-B36D2F3372F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7889" y="6415356"/>
            <a:ext cx="1760924" cy="26303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30B224-AB2A-4678-B470-3F54F1090DFD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5A01AF40-3A23-4219-9F5B-15DBDE775669}"/>
              </a:ext>
            </a:extLst>
          </p:cNvPr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0410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395" imgH="394" progId="TCLayout.ActiveDocument.1">
                  <p:embed/>
                </p:oleObj>
              </mc:Choice>
              <mc:Fallback>
                <p:oleObj name="think-cell Slide" r:id="rId35" imgW="395" imgH="394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5A01AF40-3A23-4219-9F5B-15DBDE77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2A8609D-E28E-4833-A303-053D1A63756A}"/>
              </a:ext>
            </a:extLst>
          </p:cNvPr>
          <p:cNvCxnSpPr/>
          <p:nvPr/>
        </p:nvCxnSpPr>
        <p:spPr>
          <a:xfrm>
            <a:off x="587829" y="6326559"/>
            <a:ext cx="109310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577C5B-D552-4065-BC05-D497CC4CD394}"/>
              </a:ext>
            </a:extLst>
          </p:cNvPr>
          <p:cNvCxnSpPr>
            <a:cxnSpLocks/>
          </p:cNvCxnSpPr>
          <p:nvPr/>
        </p:nvCxnSpPr>
        <p:spPr>
          <a:xfrm>
            <a:off x="381000" y="6326559"/>
            <a:ext cx="1143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BBA439-04A6-412F-9D7B-14036E3A0528}"/>
              </a:ext>
            </a:extLst>
          </p:cNvPr>
          <p:cNvCxnSpPr>
            <a:cxnSpLocks/>
          </p:cNvCxnSpPr>
          <p:nvPr/>
        </p:nvCxnSpPr>
        <p:spPr>
          <a:xfrm>
            <a:off x="381000" y="1112556"/>
            <a:ext cx="1143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43C79-B348-5A00-6F10-3452A55B52A4}"/>
              </a:ext>
            </a:extLst>
          </p:cNvPr>
          <p:cNvSpPr txBox="1">
            <a:spLocks/>
          </p:cNvSpPr>
          <p:nvPr/>
        </p:nvSpPr>
        <p:spPr>
          <a:xfrm>
            <a:off x="11282830" y="6396054"/>
            <a:ext cx="350155" cy="35353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|  </a:t>
            </a:r>
            <a:fld id="{8533668A-08BF-4B44-9469-5988ACF0F61C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4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 baseline="0">
          <a:solidFill>
            <a:srgbClr val="00446A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98463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303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1688" indent="-230188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69963" indent="-16827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196975" indent="-225425" algn="l" defTabSz="914400" rtl="0" eaLnBrk="1" latinLnBrk="0" hangingPunct="1">
        <a:lnSpc>
          <a:spcPct val="100000"/>
        </a:lnSpc>
        <a:spcBef>
          <a:spcPts val="0"/>
        </a:spcBef>
        <a:buClr>
          <a:schemeClr val="accent3"/>
        </a:buClr>
        <a:buFont typeface="Arial Narrow" panose="020B0606020202030204" pitchFamily="34" charset="0"/>
        <a:buChar char="–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">
          <p15:clr>
            <a:srgbClr val="F26B43"/>
          </p15:clr>
        </p15:guide>
        <p15:guide id="2" pos="7440">
          <p15:clr>
            <a:srgbClr val="F26B43"/>
          </p15:clr>
        </p15:guide>
        <p15:guide id="3" orient="horz" pos="3984">
          <p15:clr>
            <a:srgbClr val="F26B43"/>
          </p15:clr>
        </p15:guide>
        <p15:guide id="4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chart" Target="/ppt/charts/s1-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Discount Leakage Concentration |</a:t>
            </a:r>
            <a:pPr indent="0" marL="0">
              <a:buNone/>
            </a:pPr>
            <a:r>
              <a:rPr lang="en-US" sz="2600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Top 8 accounts explain 70.7% of $31.7M in annualized leakage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20040" y="7315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Halvorsen Industrial Supply — FY25 Annualized Discount Leakage ($M)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5333" y="1433779"/>
            <a:ext cx="1618488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$31.7M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333549" y="1433779"/>
            <a:ext cx="4498848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annualized leakage — top 3 accounts = 39.4%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50469" y="1932127"/>
          <a:ext cx="11060582" cy="27409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05333" y="4822546"/>
            <a:ext cx="3346704" cy="199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Root Cause Breakdown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0469" y="5071720"/>
            <a:ext cx="6740042" cy="348844"/>
          </a:xfrm>
          <a:prstGeom prst="roundRect">
            <a:avLst>
              <a:gd name="adj" fmla="val 26212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1909" y="5071720"/>
            <a:ext cx="6557162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Manual Overrides — 61%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5726" y="5071720"/>
            <a:ext cx="2649931" cy="348844"/>
          </a:xfrm>
          <a:prstGeom prst="roundRect">
            <a:avLst>
              <a:gd name="adj" fmla="val 2621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7166" y="5071720"/>
            <a:ext cx="2467051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Stale Competitive — 24%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170871" y="5071720"/>
            <a:ext cx="1440180" cy="348844"/>
          </a:xfrm>
          <a:prstGeom prst="roundRect">
            <a:avLst>
              <a:gd name="adj" fmla="val 26212"/>
            </a:avLst>
          </a:prstGeom>
          <a:solidFill>
            <a:srgbClr val="75787B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262311" y="5071720"/>
            <a:ext cx="1257300" cy="348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Freight — 15%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0469" y="5570068"/>
            <a:ext cx="11060582" cy="498348"/>
          </a:xfrm>
          <a:prstGeom prst="roundRect">
            <a:avLst>
              <a:gd name="adj" fmla="val 18349"/>
            </a:avLst>
          </a:prstGeom>
          <a:solidFill>
            <a:srgbClr val="00446A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35762" y="5570068"/>
            <a:ext cx="10489997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Fixing manual-override controls at the top 3 accounts would recover ~$7.6M (61% of $12.5M concentrated leakage) without repricing the broader book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37&quot; g=&quot;7D&quot; b=&quot;C2&quot;/&gt;&lt;/elem&gt;&lt;elem m_fUsage=&quot;1.00000000000000000000E+00&quot;&gt;&lt;m_msothmcolidx val=&quot;0&quot;/&gt;&lt;m_rgb r=&quot;F3&quot; g=&quot;9C&quot; b=&quot;07&quot;/&gt;&lt;/elem&gt;&lt;elem m_fUsage=&quot;7.29000000000000092371E-01&quot;&gt;&lt;m_msothmcolidx val=&quot;0&quot;/&gt;&lt;m_rgb r=&quot;F5&quot; g=&quot;A4&quot; b=&quot;6A&quot;/&gt;&lt;/elem&gt;&lt;elem m_fUsage=&quot;6.56100000000000127542E-01&quot;&gt;&lt;m_msothmcolidx val=&quot;0&quot;/&gt;&lt;m_rgb r=&quot;FD&quot; g=&quot;96&quot; b=&quot;58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 Theme 082323">
  <a:themeElements>
    <a:clrScheme name="INSIGHT Theme 0832423">
      <a:dk1>
        <a:srgbClr val="25282A"/>
      </a:dk1>
      <a:lt1>
        <a:srgbClr val="FFFFFF"/>
      </a:lt1>
      <a:dk2>
        <a:srgbClr val="051C2C"/>
      </a:dk2>
      <a:lt2>
        <a:srgbClr val="F3F4F4"/>
      </a:lt2>
      <a:accent1>
        <a:srgbClr val="75787B"/>
      </a:accent1>
      <a:accent2>
        <a:srgbClr val="E56910"/>
      </a:accent2>
      <a:accent3>
        <a:srgbClr val="00446A"/>
      </a:accent3>
      <a:accent4>
        <a:srgbClr val="339966"/>
      </a:accent4>
      <a:accent5>
        <a:srgbClr val="CB333B"/>
      </a:accent5>
      <a:accent6>
        <a:srgbClr val="D0D3D4"/>
      </a:accent6>
      <a:hlink>
        <a:srgbClr val="E56910"/>
      </a:hlink>
      <a:folHlink>
        <a:srgbClr val="00BAB3"/>
      </a:folHlink>
    </a:clrScheme>
    <a:fontScheme name="INSIGHT PowePoint 2023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SIGHT2PROFIT PowerPoint Template 082423" id="{5AF74E34-FCA6-4030-AD5A-5CFDE0A82380}" vid="{BE7F5FFC-743E-4A8E-A4B0-4455B1CFD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Widescreen</PresentationFormat>
  <Paragraphs>156</Paragraphs>
  <Slides>11</Slides>
  <Notes>6</Notes>
  <HiddenSlides>5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Arial Narrow</vt:lpstr>
      <vt:lpstr>Calibri</vt:lpstr>
      <vt:lpstr>Cochocib Script Latin Pro</vt:lpstr>
      <vt:lpstr>Georgia</vt:lpstr>
      <vt:lpstr>Wingdings</vt:lpstr>
      <vt:lpstr>INSIGHT Theme 082323</vt:lpstr>
      <vt:lpstr>think-cell Slide</vt:lpstr>
      <vt:lpstr>100 day Initiative Updates – AI</vt:lpstr>
      <vt:lpstr>100 Day Internal AI Check-in Topics</vt:lpstr>
      <vt:lpstr>Internal AI – Tooling | Accelerating Internal AI Tooling Through Partner Support</vt:lpstr>
      <vt:lpstr>Internal AI – Learning &amp; Adoption | Driving AI Adoption Across Core Workflows</vt:lpstr>
      <vt:lpstr>Internal AI – AskINSIGHT | Usage Shifting, Rethinking How We Measure</vt:lpstr>
      <vt:lpstr>Internal AI – Tooling | Accelerating Internal AI Tooling Through Partner Support</vt:lpstr>
      <vt:lpstr>Internal AI – Learning &amp; Adoption | Driving AI Adoption Across Core Workflows</vt:lpstr>
      <vt:lpstr>Internal AI – AskINSIGHT | XXX</vt:lpstr>
      <vt:lpstr>Internal AI – Tooling | Accelerating Internal AI Tooling Through Partner Support</vt:lpstr>
      <vt:lpstr>Internal AI – Tooling | Driving AI Adoption Across Core Workflows</vt:lpstr>
      <vt:lpstr>Internal AI – Tooling | Driving AI Adoption Across Core Workflows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Hayes</dc:creator>
  <cp:lastModifiedBy>Will Hayes</cp:lastModifiedBy>
  <cp:revision>1</cp:revision>
  <cp:lastPrinted>2025-11-12T18:44:47Z</cp:lastPrinted>
  <dcterms:created xsi:type="dcterms:W3CDTF">2025-09-05T20:16:16Z</dcterms:created>
  <dcterms:modified xsi:type="dcterms:W3CDTF">2026-06-22T20:20:43Z</dcterms:modified>
</cp:coreProperties>
</file>