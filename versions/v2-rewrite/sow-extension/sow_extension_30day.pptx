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30-Day SOW Extension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Engineering-led sprint to maintain momentum and produce working artifacts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Elephant Ventures — June 29 to July 31,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433779"/>
            <a:ext cx="2194560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$30,500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5333" y="1832458"/>
            <a:ext cx="2194560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55264" y="1433779"/>
            <a:ext cx="1618488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 Days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55264" y="1832458"/>
            <a:ext cx="1618488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Duration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29123" y="1433779"/>
            <a:ext cx="1042416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29123" y="1832458"/>
            <a:ext cx="1042416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Workstreams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0469" y="2181301"/>
            <a:ext cx="11060582" cy="299009"/>
          </a:xfrm>
          <a:prstGeom prst="roundRect">
            <a:avLst>
              <a:gd name="adj" fmla="val 30581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909" y="2181301"/>
            <a:ext cx="10877702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 Knowledge Base 2.0 — Data organization and retrieval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0469" y="2579980"/>
            <a:ext cx="11060582" cy="299009"/>
          </a:xfrm>
          <a:prstGeom prst="roundRect">
            <a:avLst>
              <a:gd name="adj" fmla="val 30581"/>
            </a:avLst>
          </a:prstGeom>
          <a:solidFill>
            <a:srgbClr val="00446A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1909" y="2579980"/>
            <a:ext cx="10877702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 Deep Research in AskINSIGHT — Cited multi-source synthesis to production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0469" y="2978658"/>
            <a:ext cx="11060582" cy="299009"/>
          </a:xfrm>
          <a:prstGeom prst="roundRect">
            <a:avLst>
              <a:gd name="adj" fmla="val 30581"/>
            </a:avLst>
          </a:prstGeom>
          <a:solidFill>
            <a:srgbClr val="00446A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1909" y="2978658"/>
            <a:ext cx="10877702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 Teams Agent Integration — End-to-end deployment in INSIGHT tenant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0469" y="3377336"/>
            <a:ext cx="11060582" cy="299009"/>
          </a:xfrm>
          <a:prstGeom prst="roundRect">
            <a:avLst>
              <a:gd name="adj" fmla="val 30581"/>
            </a:avLst>
          </a:prstGeom>
          <a:solidFill>
            <a:srgbClr val="00446A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1909" y="3377336"/>
            <a:ext cx="10877702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 Agent Builder Evaluation — Side-by-side comparison and MVP recommendation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0469" y="3776015"/>
            <a:ext cx="11060582" cy="299009"/>
          </a:xfrm>
          <a:prstGeom prst="roundRect">
            <a:avLst>
              <a:gd name="adj" fmla="val 30581"/>
            </a:avLst>
          </a:prstGeom>
          <a:solidFill>
            <a:srgbClr val="00446A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1909" y="3776015"/>
            <a:ext cx="10877702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5. Architecture Assessment Review — Critical review with actionable next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5333" y="4224528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Team &amp; Pricing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9" y="4473702"/>
          <a:ext cx="9144000" cy="914400"/>
        </p:xfrm>
        <a:graphic>
          <a:graphicData uri="http://schemas.openxmlformats.org/drawingml/2006/table">
            <a:tbl>
              <a:tblPr/>
              <a:tblGrid>
                <a:gridCol w="2765146"/>
                <a:gridCol w="2765146"/>
                <a:gridCol w="2765146"/>
                <a:gridCol w="2765146"/>
              </a:tblGrid>
              <a:tr h="311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Team Member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Role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Rate / Month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Allocation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</a:tr>
              <a:tr h="311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Maik Ardan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Sr. AI Architect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$11,000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Full-time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1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Edward Mabuyo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Sr. Engineer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$11,000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Full-time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311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Jonathan Cook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Product Owner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$8,500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Half-time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50469" y="5819242"/>
            <a:ext cx="11060582" cy="299009"/>
          </a:xfrm>
          <a:prstGeom prst="roundRect">
            <a:avLst>
              <a:gd name="adj" fmla="val 30581"/>
            </a:avLst>
          </a:prstGeom>
          <a:solidFill>
            <a:srgbClr val="E56910">
              <a:alpha val="9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41909" y="5819242"/>
            <a:ext cx="10877702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Standing down risks losing engineers — this extension keeps momentum and feeds Q3/Q4 planning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