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s1-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s1-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s1-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1-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Sparkling</c:v>
                </c:pt>
              </c:strCache>
            </c:strRef>
          </c:tx>
          <c:spPr>
            <a:solidFill>
              <a:srgbClr val="00446A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48.2</c:v>
                </c:pt>
                <c:pt idx="1">
                  <c:v>50.1</c:v>
                </c:pt>
                <c:pt idx="2">
                  <c:v>53.4</c:v>
                </c:pt>
                <c:pt idx="3">
                  <c:v>57.8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Still</c:v>
                </c:pt>
              </c:strCache>
            </c:strRef>
          </c:tx>
          <c:spPr>
            <a:solidFill>
              <a:srgbClr val="7A95A5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31.6</c:v>
                </c:pt>
                <c:pt idx="1">
                  <c:v>30.8</c:v>
                </c:pt>
                <c:pt idx="2">
                  <c:v>29.5</c:v>
                </c:pt>
                <c:pt idx="3">
                  <c:v>28.1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E56910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22.4</c:v>
                </c:pt>
                <c:pt idx="1">
                  <c:v>26.7</c:v>
                </c:pt>
                <c:pt idx="2">
                  <c:v>31.9</c:v>
                </c:pt>
                <c:pt idx="3">
                  <c:v>38.2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Private Label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18.9</c:v>
                </c:pt>
                <c:pt idx="1">
                  <c:v>18.2</c:v>
                </c:pt>
                <c:pt idx="2">
                  <c:v>17.6</c:v>
                </c:pt>
                <c:pt idx="3">
                  <c:v>16.4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75787B"/>
                  </a:solidFill>
                  <a:latin typeface="Arial Narro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8cb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5282A"/>
              </a:solidFill>
              <a:latin typeface="Arial Narrow"/>
              <a:cs typeface="Arial Narrow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chart" Target="/ppt/charts/s1-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FY25 Quarterly Revenue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Mix shift from water to energy accelerated through the year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Cascade Beverage Group — Net Revenue by Product Family ($M)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433779"/>
            <a:ext cx="1503274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+70.5%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5333" y="1782623"/>
            <a:ext cx="1503274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Energy Q1→Q4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48763" y="1433779"/>
            <a:ext cx="1042416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448763" y="1782623"/>
            <a:ext cx="1272845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Energy Mix (Q4)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76979" y="1433779"/>
            <a:ext cx="1272845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B333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−13.2%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76979" y="1782623"/>
            <a:ext cx="1272845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Private Label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50469" y="2131466"/>
          <a:ext cx="6912864" cy="323926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808976" y="2131466"/>
            <a:ext cx="3802075" cy="3239262"/>
          </a:xfrm>
          <a:prstGeom prst="rect">
            <a:avLst/>
          </a:prstGeom>
          <a:solidFill>
            <a:srgbClr val="E6ECF0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08976" y="2131466"/>
            <a:ext cx="3802075" cy="73152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2241194"/>
            <a:ext cx="350946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Quarterly Trends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55280" y="2698394"/>
            <a:ext cx="210568" cy="378905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2"/>
          <p:cNvSpPr/>
          <p:nvPr/>
        </p:nvSpPr>
        <p:spPr>
          <a:xfrm>
            <a:off x="8361091" y="2698394"/>
            <a:ext cx="2978603" cy="454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Energy is the growth engine — $22.4M to $38.2M in four quarters, now the second-largest family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3254121"/>
            <a:ext cx="210568" cy="378905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4"/>
          <p:cNvSpPr/>
          <p:nvPr/>
        </p:nvSpPr>
        <p:spPr>
          <a:xfrm>
            <a:off x="8361091" y="3254121"/>
            <a:ext cx="2978603" cy="454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Sparkling holds ~40% share with +19.9% growth — the stable anchor while the mix rotates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3809848"/>
            <a:ext cx="210568" cy="378905"/>
          </a:xfrm>
          <a:prstGeom prst="rect">
            <a:avLst/>
          </a:prstGeom>
          <a:solidFill>
            <a:srgbClr val="7A95A5"/>
          </a:solidFill>
          <a:ln/>
        </p:spPr>
      </p:sp>
      <p:sp>
        <p:nvSpPr>
          <p:cNvPr id="19" name="Text 16"/>
          <p:cNvSpPr/>
          <p:nvPr/>
        </p:nvSpPr>
        <p:spPr>
          <a:xfrm>
            <a:off x="8361091" y="3809848"/>
            <a:ext cx="2978603" cy="454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Still water declining 11.1% — deliberate de-emphasis as margin compression continues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55280" y="4365574"/>
            <a:ext cx="210568" cy="37890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1" name="Text 18"/>
          <p:cNvSpPr/>
          <p:nvPr/>
        </p:nvSpPr>
        <p:spPr>
          <a:xfrm>
            <a:off x="8361091" y="4365574"/>
            <a:ext cx="2978603" cy="454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Private Label down 13.2% — managed runoff as branded volume grows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0469" y="5520233"/>
            <a:ext cx="11060582" cy="548183"/>
          </a:xfrm>
          <a:prstGeom prst="roundRect">
            <a:avLst>
              <a:gd name="adj" fmla="val 16681"/>
            </a:avLst>
          </a:prstGeom>
          <a:solidFill>
            <a:srgbClr val="00446A">
              <a:alpha val="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35762" y="5520233"/>
            <a:ext cx="10489997" cy="548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company transforming its revenue base: Energy's acceleration and Sparkling's stability are replacing a declining still-water/private-label core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