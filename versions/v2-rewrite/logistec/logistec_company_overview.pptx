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heme/theme2.xml" ContentType="application/vnd.openxmlformats-officedocument.them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48.xml" ContentType="application/vnd.openxmlformats-officedocument.presentationml.tag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1"/>
  </p:sldIdLst>
  <p:sldSz cx="12192000" cy="6858000"/>
  <p:notesSz cx="7023100" cy="93091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6D3FB1-8E89-4214-818A-CEBE34AC73F2}">
          <p14:sldIdLst>
            <p14:sldId id="2147483646"/>
            <p14:sldId id="262"/>
            <p14:sldId id="258"/>
            <p14:sldId id="259"/>
            <p14:sldId id="260"/>
          </p14:sldIdLst>
        </p14:section>
        <p14:section name="Appendix" id="{25CF4AA7-ECA5-463E-B916-2915A0507AFB}">
          <p14:sldIdLst>
            <p14:sldId id="265"/>
            <p14:sldId id="266"/>
          </p14:sldIdLst>
        </p14:section>
        <p14:section name="Archive" id="{FEF9408E-363A-4CC9-AB28-F9BECE50C840}">
          <p14:sldIdLst>
            <p14:sldId id="261"/>
            <p14:sldId id="256"/>
            <p14:sldId id="257"/>
            <p14:sldId id="2147483647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44832C-07F8-2364-A60F-D2BF29AA4264}" name="Will Hayes" initials="WH" userId="S::whayes@insight2profit.com::770410c4-e4a3-45b5-a274-7b0ba79425ca" providerId="AD"/>
  <p188:author id="{F157BD68-C772-5A2C-3123-01BA99407769}" name="Jonathan Durkee" initials="JD" userId="S::jdurkee@insight2profit.com::f26f9e2e-4fba-4199-97b3-e984d5a29453" providerId="AD"/>
  <p188:author id="{3513F19A-A0F9-4F7A-4F39-11446AB8F4B5}" name="Danielle Cisler" initials="DC" userId="S::dcisler@insight2profit.com::1a59b036-64f6-46ba-abcb-46508f5a800b" providerId="AD"/>
  <p188:author id="{216812D2-4339-BB27-9A8B-27B438708992}" name="Sierra Brooks" initials="SB" userId="S::sbrooks@insight2profit.com::178cb0aa-ff91-4341-b644-b674bc7b6cb4" providerId="AD"/>
  <p188:author id="{B377FFE9-82C2-32B5-4190-AA75791AEE90}" name="Jenna Mustar" initials="JM" userId="S::jmustar@insight2profit.com::23a1059a-620e-4a25-b3b6-4187a9799b63" providerId="AD"/>
  <p188:author id="{775F04EA-1D5C-B26B-EFA3-D5B15E0E804C}" name="Christopher Cole" initials="CC" userId="S::ccole@insight2profit.com::2fbc9c5e-13b4-42d7-8114-e419fcd451c5" providerId="AD"/>
  <p188:author id="{93F389EA-2D2A-7989-91BE-0D1B37BC3943}" name="Jay Yellen" initials="JY" userId="S::jyellen@insight2profit.com::abcb4192-3d0e-4558-82a8-b8e9cfae00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55E"/>
    <a:srgbClr val="FEFEFC"/>
    <a:srgbClr val="FCFCFC"/>
    <a:srgbClr val="00466E"/>
    <a:srgbClr val="1A6B83"/>
    <a:srgbClr val="FCE1CD"/>
    <a:srgbClr val="FEF1E8"/>
    <a:srgbClr val="F4FAFE"/>
    <a:srgbClr val="FFFFFF"/>
    <a:srgbClr val="00A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716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17" Type="http://schemas.openxmlformats.org/officeDocument/2006/relationships/theme" Target="theme/theme1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9" Type="http://schemas.microsoft.com/office/2016/11/relationships/changesInfo" Target="changesInfos/changesInfo1.xml"/><Relationship Id="rId14" Type="http://schemas.openxmlformats.org/officeDocument/2006/relationships/tags" Target="tags/tag1.xml"/><Relationship Id="rId2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 Hayes" userId="770410c4-e4a3-45b5-a274-7b0ba79425ca" providerId="ADAL" clId="{A7943A11-365B-40CA-A7EB-7B5350707336}"/>
    <pc:docChg chg="undo custSel addSld delSld modSld sldOrd modSection">
      <pc:chgData name="Will Hayes" userId="770410c4-e4a3-45b5-a274-7b0ba79425ca" providerId="ADAL" clId="{A7943A11-365B-40CA-A7EB-7B5350707336}" dt="2026-06-22T20:20:37.263" v="2591" actId="47"/>
      <pc:docMkLst>
        <pc:docMk/>
      </pc:docMkLst>
      <pc:sldChg chg="new del">
        <pc:chgData name="Will Hayes" userId="770410c4-e4a3-45b5-a274-7b0ba79425ca" providerId="ADAL" clId="{A7943A11-365B-40CA-A7EB-7B5350707336}" dt="2026-06-22T20:20:37.263" v="2591" actId="47"/>
        <pc:sldMkLst>
          <pc:docMk/>
          <pc:sldMk cId="1513627849" sldId="26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B355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446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AA97C869-24B8-4A8F-A0A1-CA51CAEE491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320CB3AF-E0F4-4D9D-8BAD-FF9D54C3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6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tags" Target="../tags/tag18.xml"/><Relationship Id="rId7" Type="http://schemas.openxmlformats.org/officeDocument/2006/relationships/oleObject" Target="../embeddings/oleObject14.bin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9" Type="http://schemas.openxmlformats.org/officeDocument/2006/relationships/oleObject" Target="../embeddings/oleObject15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7.svg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19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3.emf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0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9.png"/><Relationship Id="rId5" Type="http://schemas.openxmlformats.org/officeDocument/2006/relationships/image" Target="../media/image10.jpeg"/><Relationship Id="rId4" Type="http://schemas.openxmlformats.org/officeDocument/2006/relationships/image" Target="../media/image3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1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9.png"/><Relationship Id="rId5" Type="http://schemas.openxmlformats.org/officeDocument/2006/relationships/image" Target="../media/image11.jpeg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3.emf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3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9.png"/><Relationship Id="rId5" Type="http://schemas.openxmlformats.org/officeDocument/2006/relationships/image" Target="../media/image13.jpeg"/><Relationship Id="rId4" Type="http://schemas.openxmlformats.org/officeDocument/2006/relationships/image" Target="../media/image3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31.bin"/><Relationship Id="rId7" Type="http://schemas.openxmlformats.org/officeDocument/2006/relationships/hyperlink" Target="https://www.insight2profit.com/" TargetMode="External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tags" Target="../tags/tag3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9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Page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773FF76-1E19-8FAF-E128-FCB90DF31D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7618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C773FF76-1E19-8FAF-E128-FCB90DF31D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8655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52383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743072"/>
            <a:ext cx="11430000" cy="58152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2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2D56E-A9D4-4291-B4FE-F84042D8BFF4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439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. Title Page -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887B3C5B-86D2-0539-61C1-91A01DA810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11260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887B3C5B-86D2-0539-61C1-91A01DA810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4484890"/>
            <a:ext cx="11430000" cy="1372776"/>
          </a:xfrm>
        </p:spPr>
        <p:txBody>
          <a:bodyPr vert="horz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cap="all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885245"/>
            <a:ext cx="11430000" cy="43935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E56910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735D9-C24D-E6D2-9F34-BB3B0BB37BE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057650" y="3067008"/>
            <a:ext cx="4076700" cy="137277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Client Logo Centered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3BA865-3B99-ED72-C8F9-7D5B4E234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4552F1-A2B2-3537-187A-CDF240D017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03228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. Title Page - No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8A4EEDF-42FE-8AE6-F6FD-E9AD7490749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88964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A4EEDF-42FE-8AE6-F6FD-E9AD749074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1416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47049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429250"/>
            <a:ext cx="11430000" cy="5810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3858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2508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25484"/>
            <a:ext cx="11425238" cy="5104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0055224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A37F7E7-A597-9BF8-D34B-CFE5E0A33E2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436225" y="206375"/>
            <a:ext cx="1370013" cy="896938"/>
          </a:xfr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/>
              <a:t>Client Logo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94226842-63E7-5928-6264-B3CDC2CBBD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6"/>
            <a:ext cx="8917557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</p:spTree>
    <p:extLst>
      <p:ext uri="{BB962C8B-B14F-4D97-AF65-F5344CB8AC3E}">
        <p14:creationId xmlns:p14="http://schemas.microsoft.com/office/powerpoint/2010/main" val="412824641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62893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225484"/>
            <a:ext cx="11429999" cy="5105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7"/>
            <a:ext cx="8917557" cy="698081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4C890AC-CF3F-F51F-51A1-532E176688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46000937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3ED4494-18E4-E089-39A5-C1B56F8FE55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7184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3ED4494-18E4-E089-39A5-C1B56F8FE5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1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3623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4128026-75FF-B379-0389-B7454A8C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805633A-316B-641E-AC80-DC9D0A7D2D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51EA372-B231-9920-4D72-6AED6490D9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0378162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3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. 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284FA7F-23A5-7D51-BDAF-4D04D11C3C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29428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84FA7F-23A5-7D51-BDAF-4D04D11C3C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5004" y="1221103"/>
            <a:ext cx="3657600" cy="5102352"/>
          </a:xfrm>
        </p:spPr>
        <p:txBody>
          <a:bodyPr>
            <a:norm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51955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5"/>
          </p:nvPr>
        </p:nvSpPr>
        <p:spPr>
          <a:xfrm>
            <a:off x="4259384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4677E8-6A22-0D70-58AF-022466A3B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20089ADB-DE0E-1A9D-B046-EDBDA8A3A9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20FBED9-3A5E-BB23-A5E7-3B1F32CE95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1705961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. Visual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48D3BC3-A98A-952D-F287-C846FC7AE8F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6962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8D3BC3-A98A-952D-F287-C846FC7AE8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21104"/>
            <a:ext cx="5623560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5864" y="1221104"/>
            <a:ext cx="5623560" cy="316533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6185864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F0DC63-B13A-1EE1-4162-92F5B31E5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91B7452E-E0AA-091B-E417-526FBA5195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646C406-AB2A-4E22-DB71-471F8708BE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16762390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. Visual &amp; Bullets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ED50C32-67A4-EC38-A669-4CBF5631C4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54810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D50C32-67A4-EC38-A669-4CBF5631C4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1" y="1221104"/>
            <a:ext cx="11429998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8013"/>
            <a:ext cx="11429997" cy="1903059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0EC3DF-E6AB-2907-7792-E98898540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FF409AE7-DD55-6345-3C9D-F60697CE0B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E9E1820-9527-B2F4-8F0E-F3C7CECBAA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13421150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. Side by Side Tex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B74A99A-2063-E3D0-BEEB-56B7F3FC73C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7737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B74A99A-2063-E3D0-BEEB-56B7F3FC73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94158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4158" y="1718362"/>
            <a:ext cx="5638797" cy="45967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718362"/>
            <a:ext cx="5641518" cy="4593186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EE08B1-97D7-18A8-0BAE-907C65B57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51466061-78EE-CB7E-80A3-7FAA7C6D0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147E556-36CA-9F16-80ED-EA7038E57A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59908050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. Lef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E5F458A6-98A0-D8AC-4BC1-0CC828CBC0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70236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F458A6-98A0-D8AC-4BC1-0CC828CBC0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19761"/>
            <a:ext cx="6916004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97002" y="1219760"/>
            <a:ext cx="4513998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8F45E-9FDE-85FF-695E-C25BF06B4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0E1F9FBA-ECF2-2431-22C4-EABF75DE90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92CEE53-6B06-3DF0-2825-58B0ADC256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17756675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. Righ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14A41B0-BD59-812A-DF96-5E46C890D8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3226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4A41B0-BD59-812A-DF96-5E46C890D8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00082" y="1221104"/>
            <a:ext cx="6910918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81000" y="1221104"/>
            <a:ext cx="4513793" cy="5102352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600">
                <a:latin typeface="Arial Narrow" panose="020B0606020202030204" pitchFamily="34" charset="0"/>
              </a:defRPr>
            </a:lvl1pPr>
            <a:lvl2pPr>
              <a:defRPr sz="1600">
                <a:latin typeface="Arial Narrow" panose="020B0606020202030204" pitchFamily="34" charset="0"/>
              </a:defRPr>
            </a:lvl2pPr>
            <a:lvl3pPr>
              <a:defRPr sz="1600">
                <a:latin typeface="Arial Narrow" panose="020B0606020202030204" pitchFamily="34" charset="0"/>
              </a:defRPr>
            </a:lvl3pPr>
            <a:lvl4pPr>
              <a:defRPr sz="1600">
                <a:latin typeface="Arial Narrow" panose="020B0606020202030204" pitchFamily="34" charset="0"/>
              </a:defRPr>
            </a:lvl4pPr>
            <a:lvl5pPr>
              <a:defRPr sz="16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7C60F5-D261-EE9C-4383-ADAFB6CF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30B7099F-9603-A0EB-C825-E87B154E9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A889DF2-543F-C050-041A-BBC1FE0047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409099838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. Left Conten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72465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06D00DC-2D9E-DCC3-6056-58D227832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725" y="0"/>
            <a:ext cx="2771275" cy="6858000"/>
          </a:xfrm>
          <a:prstGeom prst="rect">
            <a:avLst/>
          </a:prstGeom>
        </p:spPr>
      </p:pic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CE5BF59-C2F3-39A1-C215-5FCC86C65F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53589" y="565249"/>
            <a:ext cx="2157412" cy="552376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71857D0B-F20B-E821-D1E2-943E5B25DC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53589" y="1214437"/>
            <a:ext cx="2157412" cy="5102352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D2710282-D2C6-E90D-6043-0A378BB3A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870585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8C928CC-0EB0-EABA-BE2C-AF9A4EDE4B0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80999" y="1218888"/>
            <a:ext cx="8705849" cy="5102352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4D78ADF-DDDA-04CC-1FA5-5F63D3A894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6D0F3E-ED74-23F2-CC5D-DF431B946920}"/>
              </a:ext>
            </a:extLst>
          </p:cNvPr>
          <p:cNvCxnSpPr>
            <a:cxnSpLocks/>
          </p:cNvCxnSpPr>
          <p:nvPr/>
        </p:nvCxnSpPr>
        <p:spPr>
          <a:xfrm>
            <a:off x="381000" y="6322387"/>
            <a:ext cx="8705850" cy="50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40B664C-CCA5-348F-B9A2-748E25D0781C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83BC86-40AE-D7AD-7C72-5CCDE633363A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0B3C98-E550-5169-DDA6-587E8D47DCB8}"/>
              </a:ext>
            </a:extLst>
          </p:cNvPr>
          <p:cNvCxnSpPr>
            <a:cxnSpLocks/>
          </p:cNvCxnSpPr>
          <p:nvPr userDrawn="1"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F2C9910-B633-28C7-93F1-DEE69305FA9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0497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Blank with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39341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06" imgH="306" progId="TCLayout.ActiveDocument.1">
                  <p:embed/>
                </p:oleObj>
              </mc:Choice>
              <mc:Fallback>
                <p:oleObj name="think-cell Slide" r:id="rId7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FBD4EC2-0298-5DFE-707B-1A41BB1AC67C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FBD4EC2-0298-5DFE-707B-1A41BB1AC6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060886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16710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C4CA0B1-1002-3FEB-D918-E11D3AC2E9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0" y="190500"/>
            <a:ext cx="11430000" cy="613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331641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4_Divider Pri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988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177E82D-133F-7412-4101-B48BC3B69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71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5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6175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9187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93948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7F6302D-B8EE-1278-0C4F-0CE8411419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3525ECB4-0E52-B934-51A0-BC6425F64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382901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7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48097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1CEB6B-800F-1743-4149-8AAA92B9A0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5" b="2625"/>
          <a:stretch/>
        </p:blipFill>
        <p:spPr>
          <a:xfrm>
            <a:off x="608" y="0"/>
            <a:ext cx="12191392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83216D2-1BB3-AAA9-CBD3-C1E0CC727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41111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8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8563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A932061-6A09-7471-31C4-E4A11CEC09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b="5408"/>
          <a:stretch/>
        </p:blipFill>
        <p:spPr>
          <a:xfrm>
            <a:off x="-1708" y="0"/>
            <a:ext cx="12193708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9B4ABBB3-846F-0C27-2723-4495DBEF2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863073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48950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586330D-046E-2B95-720A-3F55451F0B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1" y="-1"/>
            <a:ext cx="12191999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-1" y="-1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847EBE23-50A6-D636-57F1-DD05AE45F5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278494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2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8417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43FF452-33BE-70CB-234E-B43AB9B189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0D745C8-D95B-45C3-2A0F-03DF3FE69D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56954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3_Thank You with 1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59704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B7D5AD6-D92A-AF45-E015-E54ACFA45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4024125"/>
            <a:ext cx="11430000" cy="1157475"/>
          </a:xfrm>
        </p:spPr>
        <p:txBody>
          <a:bodyPr vert="horz" anchor="ctr">
            <a:norm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 err="1"/>
              <a:t>xxx.xxx.xxxx</a:t>
            </a:r>
            <a:br>
              <a:rPr lang="en-US"/>
            </a:br>
            <a:r>
              <a:rPr lang="en-US"/>
              <a:t>email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2B5EA3-3F29-5D09-9B3D-322191E28409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154537707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4_Thank You No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62386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474A3B0-0664-2364-ADA3-D26C87722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639D71F9-00BC-CDCB-EC9B-BA7E6A2038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043" y="3429000"/>
            <a:ext cx="5773913" cy="8624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4EB4C9-1931-6856-B6CC-3B9B10899687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098884467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1 Contact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622D70B-2CE6-A402-CD4D-CF40535AC1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58271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2D70B-2CE6-A402-CD4D-CF40535AC1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00097" y="4013493"/>
            <a:ext cx="3295318" cy="1157475"/>
          </a:xfrm>
        </p:spPr>
        <p:txBody>
          <a:bodyPr vert="horz" anchor="ctr">
            <a:normAutofit/>
          </a:bodyPr>
          <a:lstStyle>
            <a:lvl1pPr algn="ctr">
              <a:defRPr sz="1800"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/>
              <a:t>+1 </a:t>
            </a:r>
            <a:r>
              <a:rPr lang="en-US" err="1"/>
              <a:t>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8873E89-78BD-C8F6-80A9-2692575323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41310" y="4013681"/>
            <a:ext cx="1149350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9AF3687E-8BFE-6A49-26DB-CD21B82436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DFF1A-71F5-4447-B34F-3AFEF05ACA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093983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2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0747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4807" y="4024125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41670" y="4024125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661" y="4024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4024125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5F8B139D-1C8A-A3DA-3EB4-106699FD9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2B7E11-3A58-6E9B-0AF8-15C78D5073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04397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6_Thank You with 3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5831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51029" y="4024123"/>
            <a:ext cx="244181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77892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7461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F7EDC06A-ADD9-8EEF-4C1D-EC327F73EA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EEE730AB-7B89-24FE-2023-2AE4594DD5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2686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60953E08-1865-633D-DA00-ED2D561AD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05853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B835C76D-8B22-BFFA-A5EB-3EF1A233701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17030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E1E149-7944-8BBE-1B53-532DB3E103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451322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7_Thank You with 4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54974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1513" y="376893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50482" y="376893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045" y="376893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376893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0482" y="5027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78045" y="5027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48503" y="502712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11513" y="502761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CC2D6268-97FF-1F72-4B95-78E2A80CD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0C6143-4A05-30E0-E393-98DA33B953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251410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8_Thank You with 6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4858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7173" y="381206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2215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-77637" y="147135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9451" y="381206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83775" y="381206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70869" y="381206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49451" y="507025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3775" y="507025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70869" y="507025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33878" y="507074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5E1383F3-B003-025B-6524-07171AC30A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49451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1045F2-24E3-E700-F580-77BE04A4D3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33778" y="2554077"/>
            <a:ext cx="3838575" cy="1157288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17303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398462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5715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80168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+1 XXX.XXX.XXXX</a:t>
            </a:r>
          </a:p>
          <a:p>
            <a:pPr lvl="0"/>
            <a:r>
              <a:rPr lang="en-US"/>
              <a:t>@insight2profit.com</a:t>
            </a:r>
          </a:p>
        </p:txBody>
      </p:sp>
      <p:sp>
        <p:nvSpPr>
          <p:cNvPr id="18" name="Picture Placeholder 23">
            <a:extLst>
              <a:ext uri="{FF2B5EF4-FFF2-40B4-BE49-F238E27FC236}">
                <a16:creationId xmlns:a16="http://schemas.microsoft.com/office/drawing/2014/main" id="{791D8299-5A60-6D4E-4CA1-973B931F8B8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83775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0E63566-8617-A210-937E-7C751B573D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70777" y="2554077"/>
            <a:ext cx="3838574" cy="1157092"/>
          </a:xfrm>
        </p:spPr>
        <p:txBody>
          <a:bodyPr>
            <a:normAutofit/>
          </a:bodyPr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Name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Title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+1 XXX.XXX.XXXX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F76298DC-50CF-F1D8-10D5-C0F4205BBF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1459776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41BFBF-9BEE-1E40-81C0-1A89B26133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654231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9_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21141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445566-DF38-9337-5B49-45A3A7D37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7" name="Picture 6" descr="A picture containing screenshot, black, square&#10;&#10;Description automatically generated">
            <a:extLst>
              <a:ext uri="{FF2B5EF4-FFF2-40B4-BE49-F238E27FC236}">
                <a16:creationId xmlns:a16="http://schemas.microsoft.com/office/drawing/2014/main" id="{03CB0D36-E5F4-D6EE-B9B2-39C6FF24EA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8" name="Picture 7">
            <a:hlinkClick r:id="rId7"/>
            <a:extLst>
              <a:ext uri="{FF2B5EF4-FFF2-40B4-BE49-F238E27FC236}">
                <a16:creationId xmlns:a16="http://schemas.microsoft.com/office/drawing/2014/main" id="{43CDF15C-34AB-49BD-7AFB-9F27CAFE06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7688" y="2025458"/>
            <a:ext cx="5715000" cy="8536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6FC917-3065-0000-DCB0-0BC8AD0AA403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3722773661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978" y="1225484"/>
            <a:ext cx="11050893" cy="4983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979" y="206103"/>
            <a:ext cx="11055096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E05C0A-C14E-9823-31FB-65CC47C3A67F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40BF9B-4E42-8828-A4A3-37EC4260A821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B8D3C2B-B474-1117-A4DA-062BC848EDF7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B8D3C2B-B474-1117-A4DA-062BC848ED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605B90-EE15-6A93-933C-99BC2D9D9A7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30598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66"/>
            <a:ext cx="12192000" cy="205103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rgbClr val="666666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7889" y="5632516"/>
            <a:ext cx="8720668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CF6F42E9-3A55-91F9-21AE-844DAEED8817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CF6F42E9-3A55-91F9-21AE-844DAEED8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7BE8F7-7DA5-D2C3-12AC-4E633977881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077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20893"/>
            <a:ext cx="11430000" cy="5105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99CADAD-AB70-45AD-A164-B36D2F3372F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30B224-AB2A-4678-B470-3F54F1090DFD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5A01AF40-3A23-4219-9F5B-15DBDE775669}"/>
              </a:ext>
            </a:extLst>
          </p:cNvPr>
          <p:cNvGraphicFramePr>
            <a:graphicFrameLocks/>
          </p:cNvGraphicFramePr>
          <p:nvPr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30004109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395" imgH="394" progId="TCLayout.ActiveDocument.1">
                  <p:embed/>
                </p:oleObj>
              </mc:Choice>
              <mc:Fallback>
                <p:oleObj name="think-cell Slide" r:id="rId35" imgW="395" imgH="394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5A01AF40-3A23-4219-9F5B-15DBDE7756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A8609D-E28E-4833-A303-053D1A63756A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A577C5B-D552-4065-BC05-D497CC4CD394}"/>
              </a:ext>
            </a:extLst>
          </p:cNvPr>
          <p:cNvCxnSpPr>
            <a:cxnSpLocks/>
          </p:cNvCxnSpPr>
          <p:nvPr/>
        </p:nvCxnSpPr>
        <p:spPr>
          <a:xfrm>
            <a:off x="381000" y="6326559"/>
            <a:ext cx="1143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EBBA439-04A6-412F-9D7B-14036E3A0528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1143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E943C79-B348-5A00-6F10-3452A55B52A4}"/>
              </a:ext>
            </a:extLst>
          </p:cNvPr>
          <p:cNvSpPr txBox="1">
            <a:spLocks/>
          </p:cNvSpPr>
          <p:nvPr/>
        </p:nvSpPr>
        <p:spPr>
          <a:xfrm>
            <a:off x="11282830" y="6396054"/>
            <a:ext cx="350155" cy="353534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|  </a:t>
            </a:r>
            <a:fld id="{8533668A-08BF-4B44-9469-5988ACF0F61C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49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 baseline="0">
          <a:solidFill>
            <a:srgbClr val="00446A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98463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7303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01688" indent="-23018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69963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196975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">
          <p15:clr>
            <a:srgbClr val="F26B43"/>
          </p15:clr>
        </p15:guide>
        <p15:guide id="2" pos="7440">
          <p15:clr>
            <a:srgbClr val="F26B43"/>
          </p15:clr>
        </p15:guide>
        <p15:guide id="3" orient="horz" pos="3984">
          <p15:clr>
            <a:srgbClr val="F26B43"/>
          </p15:clr>
        </p15:guide>
        <p15:guide id="4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LOGISTEC Corporation |</a:t>
            </a:r>
            <a:pPr indent="0" marL="0">
              <a:buNone/>
            </a:pPr>
            <a:r>
              <a:rPr lang="en-US" sz="2600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North American marine terminal and environmental services leader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Company Deep-Dive — FY23 Revenue $711M CAD, 15% EBITDA Margin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5333" y="1433779"/>
            <a:ext cx="1618488" cy="398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$711M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5333" y="1832458"/>
            <a:ext cx="1618488" cy="14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CAD Revenue (FY23)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679192" y="1433779"/>
            <a:ext cx="1272845" cy="398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15%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679192" y="1832458"/>
            <a:ext cx="1272845" cy="14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EBITDA Margin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07408" y="1433779"/>
            <a:ext cx="1272845" cy="398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~18%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407408" y="1832458"/>
            <a:ext cx="1272845" cy="14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CAGR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35624" y="1433779"/>
            <a:ext cx="1272845" cy="398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$1.2B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135624" y="1832458"/>
            <a:ext cx="1272845" cy="14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CAD Take-Private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50469" y="2231136"/>
            <a:ext cx="5299862" cy="1694383"/>
          </a:xfrm>
          <a:prstGeom prst="rect">
            <a:avLst/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6773" y="2340864"/>
            <a:ext cx="50072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Marine Services — 68%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01854" y="2817687"/>
            <a:ext cx="4597091" cy="9320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Cargo handling at 85+ terminals across 62 North American ports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30 sites hold Green Marine certification — largest fleet of eco-accredited terminals in NA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Expanding to offer turn-key trucking, warehousing, and CFS services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11189" y="2231136"/>
            <a:ext cx="5299862" cy="1694383"/>
          </a:xfrm>
          <a:prstGeom prst="rect">
            <a:avLst/>
          </a:prstGeom>
          <a:solidFill>
            <a:srgbClr val="E56910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57493" y="2340864"/>
            <a:ext cx="50072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Environmental Services — 32%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62574" y="2817687"/>
            <a:ext cx="4597091" cy="9320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Water infrastructure and contamination remediation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Patented ALTRA technologies create cross-selling with Marine Services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High retention: multi-year construction backlogs and performance bonds for municipal contracts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5333" y="4075024"/>
            <a:ext cx="5650992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New Leadership Team (Post–Take-Private)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0469" y="4324198"/>
          <a:ext cx="9144000" cy="914400"/>
        </p:xfrm>
        <a:graphic>
          <a:graphicData uri="http://schemas.openxmlformats.org/drawingml/2006/table">
            <a:tbl>
              <a:tblPr/>
              <a:tblGrid>
                <a:gridCol w="2765146"/>
                <a:gridCol w="2765146"/>
                <a:gridCol w="2765146"/>
                <a:gridCol w="2765146"/>
              </a:tblGrid>
              <a:tr h="2990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Role</a:t>
                      </a:r>
                      <a:endParaRPr lang="en-US" sz="11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Name</a:t>
                      </a:r>
                      <a:endParaRPr lang="en-US" sz="11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Start Date</a:t>
                      </a:r>
                      <a:endParaRPr lang="en-US" sz="11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Priority</a:t>
                      </a:r>
                      <a:endParaRPr lang="en-US" sz="11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</a:tr>
              <a:tr h="2990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CEO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Sean Pierce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Jan 2024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Growth &amp; international expansion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90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CFO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Tex Howard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Aug 2025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Financial strategy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</a:tr>
              <a:tr h="2990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CCO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Cleidy Liborio Fernandes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Oct 2024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Commercial acceleration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90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COO &amp; CSO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Patrick Burgoyne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Aug 2024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Operations &amp; strategy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50469" y="5869076"/>
            <a:ext cx="11060582" cy="249174"/>
          </a:xfrm>
          <a:prstGeom prst="roundRect">
            <a:avLst>
              <a:gd name="adj" fmla="val 36697"/>
            </a:avLst>
          </a:prstGeom>
          <a:solidFill>
            <a:srgbClr val="00446A">
              <a:alpha val="8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641909" y="5869076"/>
            <a:ext cx="10877702" cy="2491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Blue Wolf took LOGISTEC private (Jan 2024) with &gt;$200M capex commitment — entire C-suite replaced within 18 months</a:t>
            </a: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3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4&quot;&gt;&lt;elem m_fUsage=&quot;1.70999999999999996447E+00&quot;&gt;&lt;m_msothmcolidx val=&quot;0&quot;/&gt;&lt;m_rgb r=&quot;37&quot; g=&quot;7D&quot; b=&quot;C2&quot;/&gt;&lt;/elem&gt;&lt;elem m_fUsage=&quot;1.00000000000000000000E+00&quot;&gt;&lt;m_msothmcolidx val=&quot;0&quot;/&gt;&lt;m_rgb r=&quot;F3&quot; g=&quot;9C&quot; b=&quot;07&quot;/&gt;&lt;/elem&gt;&lt;elem m_fUsage=&quot;7.29000000000000092371E-01&quot;&gt;&lt;m_msothmcolidx val=&quot;0&quot;/&gt;&lt;m_rgb r=&quot;F5&quot; g=&quot;A4&quot; b=&quot;6A&quot;/&gt;&lt;/elem&gt;&lt;elem m_fUsage=&quot;6.56100000000000127542E-01&quot;&gt;&lt;m_msothmcolidx val=&quot;0&quot;/&gt;&lt;m_rgb r=&quot;FD&quot; g=&quot;96&quot; b=&quot;58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SIGHT Theme 082323">
  <a:themeElements>
    <a:clrScheme name="INSIGHT Theme 0832423">
      <a:dk1>
        <a:srgbClr val="25282A"/>
      </a:dk1>
      <a:lt1>
        <a:srgbClr val="FFFFFF"/>
      </a:lt1>
      <a:dk2>
        <a:srgbClr val="051C2C"/>
      </a:dk2>
      <a:lt2>
        <a:srgbClr val="F3F4F4"/>
      </a:lt2>
      <a:accent1>
        <a:srgbClr val="75787B"/>
      </a:accent1>
      <a:accent2>
        <a:srgbClr val="E56910"/>
      </a:accent2>
      <a:accent3>
        <a:srgbClr val="00446A"/>
      </a:accent3>
      <a:accent4>
        <a:srgbClr val="339966"/>
      </a:accent4>
      <a:accent5>
        <a:srgbClr val="CB333B"/>
      </a:accent5>
      <a:accent6>
        <a:srgbClr val="D0D3D4"/>
      </a:accent6>
      <a:hlink>
        <a:srgbClr val="E56910"/>
      </a:hlink>
      <a:folHlink>
        <a:srgbClr val="00BAB3"/>
      </a:folHlink>
    </a:clrScheme>
    <a:fontScheme name="INSIGHT PowePoint 2023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SIGHT2PROFIT PowerPoint Template 082423" id="{5AF74E34-FCA6-4030-AD5A-5CFDE0A82380}" vid="{BE7F5FFC-743E-4A8E-A4B0-4455B1CFD9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</Words>
  <Application>Microsoft Office PowerPoint</Application>
  <PresentationFormat>Widescreen</PresentationFormat>
  <Paragraphs>156</Paragraphs>
  <Slides>11</Slides>
  <Notes>6</Notes>
  <HiddenSlides>5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Arial Narrow</vt:lpstr>
      <vt:lpstr>Calibri</vt:lpstr>
      <vt:lpstr>Cochocib Script Latin Pro</vt:lpstr>
      <vt:lpstr>Georgia</vt:lpstr>
      <vt:lpstr>Wingdings</vt:lpstr>
      <vt:lpstr>INSIGHT Theme 082323</vt:lpstr>
      <vt:lpstr>think-cell Slide</vt:lpstr>
      <vt:lpstr>100 day Initiative Updates – AI</vt:lpstr>
      <vt:lpstr>100 Day Internal AI Check-in Topics</vt:lpstr>
      <vt:lpstr>Internal AI – Tooling | Accelerating Internal AI Tooling Through Partner Support</vt:lpstr>
      <vt:lpstr>Internal AI – Learning &amp; Adoption | Driving AI Adoption Across Core Workflows</vt:lpstr>
      <vt:lpstr>Internal AI – AskINSIGHT | Usage Shifting, Rethinking How We Measure</vt:lpstr>
      <vt:lpstr>Internal AI – Tooling | Accelerating Internal AI Tooling Through Partner Support</vt:lpstr>
      <vt:lpstr>Internal AI – Learning &amp; Adoption | Driving AI Adoption Across Core Workflows</vt:lpstr>
      <vt:lpstr>Internal AI – AskINSIGHT | XXX</vt:lpstr>
      <vt:lpstr>Internal AI – Tooling | Accelerating Internal AI Tooling Through Partner Support</vt:lpstr>
      <vt:lpstr>Internal AI – Tooling | Driving AI Adoption Across Core Workflows</vt:lpstr>
      <vt:lpstr>Internal AI – Tooling | Driving AI Adoption Across Core Workflows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 Hayes</dc:creator>
  <cp:lastModifiedBy>Will Hayes</cp:lastModifiedBy>
  <cp:revision>1</cp:revision>
  <cp:lastPrinted>2025-11-12T18:44:47Z</cp:lastPrinted>
  <dcterms:created xsi:type="dcterms:W3CDTF">2025-09-05T20:16:16Z</dcterms:created>
  <dcterms:modified xsi:type="dcterms:W3CDTF">2026-06-22T20:20:43Z</dcterms:modified>
</cp:coreProperties>
</file>