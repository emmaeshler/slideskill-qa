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115568"/>
            <a:ext cx="11430000" cy="0"/>
          </a:xfrm>
          <a:prstGeom prst="line">
            <a:avLst/>
          </a:prstGeom>
          <a:noFill/>
          <a:ln w="6350">
            <a:solidFill>
              <a:srgbClr val="252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327648"/>
            <a:ext cx="11430000" cy="0"/>
          </a:xfrm>
          <a:prstGeom prst="line">
            <a:avLst/>
          </a:prstGeom>
          <a:noFill/>
          <a:ln w="6350">
            <a:solidFill>
              <a:srgbClr val="2528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6419088"/>
            <a:ext cx="1764792" cy="2651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02920" cy="3566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282A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02920" cy="3566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282A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Discount Leakage Erodes Margin Across the Customer Portfolio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Apex Components — Customer Discount &amp; Margin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524451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4524451" cy="475488"/>
          </a:xfrm>
          <a:prstGeom prst="rect">
            <a:avLst/>
          </a:prstGeom>
          <a:solidFill>
            <a:srgbClr val="00446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31673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3816" y="1234440"/>
            <a:ext cx="389351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4250131" cy="1036320"/>
          </a:xfrm>
          <a:prstGeom prst="rect">
            <a:avLst>
              <a:gd name="adj" fmla="val 5294"/>
            </a:avLst>
          </a:prstGeom>
          <a:solidFill>
            <a:srgbClr val="EBF0F3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1737360"/>
            <a:ext cx="45720" cy="10363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810512"/>
            <a:ext cx="3930091" cy="780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“Sales reps often discount to close deals quickly, even when customers have limited alternatives.”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517648"/>
            <a:ext cx="393009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 Sales Manager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865120"/>
            <a:ext cx="4250131" cy="1036320"/>
          </a:xfrm>
          <a:prstGeom prst="rect">
            <a:avLst>
              <a:gd name="adj" fmla="val 5294"/>
            </a:avLst>
          </a:prstGeom>
          <a:solidFill>
            <a:srgbClr val="EBF0F3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2865120"/>
            <a:ext cx="45720" cy="10363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938272"/>
            <a:ext cx="3930091" cy="780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“Approval thresholds exist, but exceptions are common and not always documented.”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645408"/>
            <a:ext cx="393009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 Finance Director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992880"/>
            <a:ext cx="4250131" cy="1036320"/>
          </a:xfrm>
          <a:prstGeom prst="rect">
            <a:avLst>
              <a:gd name="adj" fmla="val 5294"/>
            </a:avLst>
          </a:prstGeom>
          <a:solidFill>
            <a:srgbClr val="EBF0F3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3992880"/>
            <a:ext cx="45720" cy="10363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66032"/>
            <a:ext cx="3930091" cy="780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“Some smaller customers are paying closer to list price than larger customers, but we’re not sure if that reflects value or inconsistent negotiation.”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4773168"/>
            <a:ext cx="393009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 VP Sales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54803" y="1234440"/>
            <a:ext cx="678667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CUSTOMER DISCOUNT &amp; MARGIN COMPARISON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54803" y="1554480"/>
          <a:ext cx="9144000" cy="914400"/>
        </p:xfrm>
        <a:graphic>
          <a:graphicData uri="http://schemas.openxmlformats.org/drawingml/2006/table">
            <a:tbl>
              <a:tblPr/>
              <a:tblGrid>
                <a:gridCol w="2165961"/>
                <a:gridCol w="866384"/>
                <a:gridCol w="866384"/>
                <a:gridCol w="1010782"/>
                <a:gridCol w="866384"/>
                <a:gridCol w="1010782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Customer</a:t>
                      </a:r>
                      <a:endParaRPr lang="en-US" sz="13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Revenue</a:t>
                      </a:r>
                      <a:endParaRPr lang="en-US" sz="13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List Price</a:t>
                      </a:r>
                      <a:endParaRPr lang="en-US" sz="13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Realized Price</a:t>
                      </a:r>
                      <a:endParaRPr lang="en-US" sz="13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Discount</a:t>
                      </a:r>
                      <a:endParaRPr lang="en-US" sz="13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Gross Margin</a:t>
                      </a:r>
                      <a:endParaRPr lang="en-US" sz="13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Northstar Mfg Group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$10M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$100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$82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18%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41%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Oak Street Industrial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$8M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$100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$76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24%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34%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Pioneer Process Sol.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$1M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$100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$88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12%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46%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320040" y="5422392"/>
            <a:ext cx="1152144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B8C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0040" y="5422392"/>
            <a:ext cx="54864" cy="795528"/>
          </a:xfrm>
          <a:prstGeom prst="rect">
            <a:avLst/>
          </a:prstGeom>
          <a:solidFill>
            <a:srgbClr val="E56910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682996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4400" y="5495544"/>
            <a:ext cx="107442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Volume is growing but revenue is flat — discount exceptions are granted without visibility or controls. Smaller customers sometimes receive better pricing than strategic accounts.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02920" cy="3566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282A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2026-08-05T19:49:22Z</dcterms:created>
  <dcterms:modified xsi:type="dcterms:W3CDTF">2026-08-05T19:49:22Z</dcterms:modified>
</cp:coreProperties>
</file>