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s1-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s1-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s1-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1-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Annualized Leakage ($M)</c:v>
                </c:pt>
              </c:strCache>
            </c:strRef>
          </c:tx>
          <c:spPr>
            <a:solidFill>
              <a:srgbClr val="00446A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5787B"/>
                    </a:solidFill>
                    <a:latin typeface="Arial Narr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Great Lakes Machine &amp; Tool</c:v>
                  </c:pt>
                  <c:pt idx="1">
                    <c:v>Southeastern Process Equip.</c:v>
                  </c:pt>
                  <c:pt idx="2">
                    <c:v>Ohio Valley Fabrication</c:v>
                  </c:pt>
                  <c:pt idx="3">
                    <c:v>Cornerstone Contractors</c:v>
                  </c:pt>
                  <c:pt idx="4">
                    <c:v>Blue Ridge Maintenance</c:v>
                  </c:pt>
                  <c:pt idx="5">
                    <c:v>Prairie State Bearing</c:v>
                  </c:pt>
                  <c:pt idx="6">
                    <c:v>Gulf Coast Industrial</c:v>
                  </c:pt>
                  <c:pt idx="7">
                    <c:v>Northland Equipment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4.8</c:v>
                </c:pt>
                <c:pt idx="1">
                  <c:v>4.1</c:v>
                </c:pt>
                <c:pt idx="2">
                  <c:v>3.6</c:v>
                </c:pt>
                <c:pt idx="3">
                  <c:v>2.9</c:v>
                </c:pt>
                <c:pt idx="4">
                  <c:v>2.3</c:v>
                </c:pt>
                <c:pt idx="5">
                  <c:v>1.9</c:v>
                </c:pt>
                <c:pt idx="6">
                  <c:v>1.6</c:v>
                </c:pt>
                <c:pt idx="7">
                  <c:v>1.2</c:v>
                </c:pt>
              </c:numCache>
            </c:numRef>
          </c:val>
        </c:ser>
        <c:dLbls>
          <c:numFmt formatCode="$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75787B"/>
                  </a:solidFill>
                  <a:latin typeface="Arial Narro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1000" b="0" i="0" u="none" strike="noStrike">
                <a:solidFill>
                  <a:srgbClr val="75787B"/>
                </a:solidFill>
                <a:latin typeface="Arial Narro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b8cb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787B"/>
                </a:solidFill>
                <a:latin typeface="Arial Narro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chart" Target="/ppt/charts/s1-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Discount Leakage Concentration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Top 8 accounts explain 70.7% of $31.7M in annualized leakage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Halvorsen Industrial Supply — FY25 Annualized Discount Leakage ($M)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65683" y="1483614"/>
          <a:ext cx="10830154" cy="34884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20547" y="5071720"/>
            <a:ext cx="3346704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LEAKAGE DRIVERS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65683" y="5320894"/>
            <a:ext cx="3456432" cy="697687"/>
          </a:xfrm>
          <a:prstGeom prst="roundRect">
            <a:avLst>
              <a:gd name="adj" fmla="val 13106"/>
            </a:avLst>
          </a:prstGeom>
          <a:solidFill>
            <a:srgbClr val="F8F9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7123" y="5320894"/>
            <a:ext cx="3273552" cy="697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Manual Overrides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61%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52544" y="5320894"/>
            <a:ext cx="3456432" cy="697687"/>
          </a:xfrm>
          <a:prstGeom prst="roundRect">
            <a:avLst>
              <a:gd name="adj" fmla="val 13106"/>
            </a:avLst>
          </a:prstGeom>
          <a:solidFill>
            <a:srgbClr val="F8F9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43984" y="5320894"/>
            <a:ext cx="3273552" cy="697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Stale Competitive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Discounts — 24%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39405" y="5320894"/>
            <a:ext cx="3456432" cy="697687"/>
          </a:xfrm>
          <a:prstGeom prst="roundRect">
            <a:avLst>
              <a:gd name="adj" fmla="val 13106"/>
            </a:avLst>
          </a:prstGeom>
          <a:solidFill>
            <a:srgbClr val="F8F9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30845" y="5320894"/>
            <a:ext cx="3273552" cy="697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Freight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Concessions — 15%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