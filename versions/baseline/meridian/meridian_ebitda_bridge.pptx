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FY24→FY25 EBITDA Bridge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Price realization drove $31.2M recovery, offsetting $30.7M in headwinds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Meridian Fasteners — EBITDA Walk by Driver ($M)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633118"/>
            <a:ext cx="1272845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$86.4M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5333" y="1932127"/>
            <a:ext cx="1272845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FY24 EBITDA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50469" y="2231136"/>
            <a:ext cx="1382573" cy="2740914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Text 5"/>
          <p:cNvSpPr/>
          <p:nvPr/>
        </p:nvSpPr>
        <p:spPr>
          <a:xfrm>
            <a:off x="641909" y="2231136"/>
            <a:ext cx="1199693" cy="27409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$86.4M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63470" y="2231136"/>
            <a:ext cx="1382573" cy="996696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9" name="Text 7"/>
          <p:cNvSpPr/>
          <p:nvPr/>
        </p:nvSpPr>
        <p:spPr>
          <a:xfrm>
            <a:off x="2254910" y="2231136"/>
            <a:ext cx="1199693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+$31.2M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8334" y="3277667"/>
            <a:ext cx="1272845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Realization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76472" y="2978658"/>
            <a:ext cx="1152144" cy="398678"/>
          </a:xfrm>
          <a:prstGeom prst="rect">
            <a:avLst/>
          </a:prstGeom>
          <a:solidFill>
            <a:srgbClr val="CB333B"/>
          </a:solidFill>
          <a:ln/>
        </p:spPr>
      </p:sp>
      <p:sp>
        <p:nvSpPr>
          <p:cNvPr id="12" name="Text 10"/>
          <p:cNvSpPr/>
          <p:nvPr/>
        </p:nvSpPr>
        <p:spPr>
          <a:xfrm>
            <a:off x="3867912" y="2978658"/>
            <a:ext cx="969264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−$12.8M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31336" y="3427171"/>
            <a:ext cx="1042416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Volume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59045" y="2978658"/>
            <a:ext cx="1152144" cy="224257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5" name="Text 13"/>
          <p:cNvSpPr/>
          <p:nvPr/>
        </p:nvSpPr>
        <p:spPr>
          <a:xfrm>
            <a:off x="5250485" y="2978658"/>
            <a:ext cx="969264" cy="224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+$6.9M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3909" y="3227832"/>
            <a:ext cx="1042416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41618" y="2978658"/>
            <a:ext cx="1152144" cy="448513"/>
          </a:xfrm>
          <a:prstGeom prst="rect">
            <a:avLst/>
          </a:prstGeom>
          <a:solidFill>
            <a:srgbClr val="CB33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33058" y="2978658"/>
            <a:ext cx="969264" cy="448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−$14.3M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96482" y="3477006"/>
            <a:ext cx="1042416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Costs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924190" y="2978658"/>
            <a:ext cx="1152144" cy="119604"/>
          </a:xfrm>
          <a:prstGeom prst="rect">
            <a:avLst/>
          </a:prstGeom>
          <a:solidFill>
            <a:srgbClr val="CB333B"/>
          </a:solidFill>
          <a:ln/>
        </p:spPr>
      </p:sp>
      <p:sp>
        <p:nvSpPr>
          <p:cNvPr id="21" name="Text 19"/>
          <p:cNvSpPr/>
          <p:nvPr/>
        </p:nvSpPr>
        <p:spPr>
          <a:xfrm>
            <a:off x="8015630" y="2978658"/>
            <a:ext cx="969264" cy="119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−$3.6M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79054" y="3128162"/>
            <a:ext cx="1042416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Freight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306763" y="2978658"/>
            <a:ext cx="1152144" cy="149504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203" y="2978658"/>
            <a:ext cx="969264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+$4.7M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61627" y="3177997"/>
            <a:ext cx="1042416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SG&amp;A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689336" y="1981962"/>
            <a:ext cx="921715" cy="29900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0776" y="1981962"/>
            <a:ext cx="738835" cy="2990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$98.5M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3771" y="1633118"/>
            <a:ext cx="1272845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$98.5M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513771" y="1932127"/>
            <a:ext cx="1272845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FY25 EBITDA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0469" y="5470398"/>
            <a:ext cx="11060582" cy="548183"/>
          </a:xfrm>
          <a:prstGeom prst="roundRect">
            <a:avLst>
              <a:gd name="adj" fmla="val 16681"/>
            </a:avLst>
          </a:prstGeom>
          <a:solidFill>
            <a:srgbClr val="E56910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1909" y="5470398"/>
            <a:ext cx="10877702" cy="548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Price realization (+$31.2M) more than offset the combined $30.7M drag from volume, costs, and freight — first margin expansion since FY21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