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30-Day SOW Extension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Engineering-led sprint to maintain momentum and produce working artifacts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Elephant Ventures — June 29 to July 31,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533449"/>
            <a:ext cx="2194560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$30,500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5333" y="1932127"/>
            <a:ext cx="2194560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55264" y="1533449"/>
            <a:ext cx="1618488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 Days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55264" y="1932127"/>
            <a:ext cx="1618488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Duration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29123" y="1533449"/>
            <a:ext cx="1042416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29123" y="1932127"/>
            <a:ext cx="1042416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Workstreams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5333" y="2231136"/>
            <a:ext cx="2194560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0469" y="2530145"/>
            <a:ext cx="11060582" cy="398678"/>
          </a:xfrm>
          <a:prstGeom prst="roundRect">
            <a:avLst>
              <a:gd name="adj" fmla="val 22936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909" y="2530145"/>
            <a:ext cx="10877702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 Knowledge Base 2.0 — Data organization and retrieval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9" y="3028493"/>
            <a:ext cx="11060582" cy="398678"/>
          </a:xfrm>
          <a:prstGeom prst="roundRect">
            <a:avLst>
              <a:gd name="adj" fmla="val 22936"/>
            </a:avLst>
          </a:prstGeom>
          <a:solidFill>
            <a:srgbClr val="00446A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1909" y="3028493"/>
            <a:ext cx="10877702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 Deep Research in AskINSIGHT — Cited multi-source synthesis to production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0469" y="3526841"/>
            <a:ext cx="11060582" cy="398678"/>
          </a:xfrm>
          <a:prstGeom prst="roundRect">
            <a:avLst>
              <a:gd name="adj" fmla="val 22936"/>
            </a:avLst>
          </a:prstGeom>
          <a:solidFill>
            <a:srgbClr val="00446A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1909" y="3526841"/>
            <a:ext cx="10877702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 Teams Agent Integration — End-to-end deployment in INSIGHT tenant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0469" y="4025189"/>
            <a:ext cx="11060582" cy="398678"/>
          </a:xfrm>
          <a:prstGeom prst="roundRect">
            <a:avLst>
              <a:gd name="adj" fmla="val 22936"/>
            </a:avLst>
          </a:prstGeom>
          <a:solidFill>
            <a:srgbClr val="00446A">
              <a:alpha val="5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1909" y="4025189"/>
            <a:ext cx="10877702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 Agent Builder Evaluation — Side-by-side comparison and MVP recommendation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0469" y="4523537"/>
            <a:ext cx="11060582" cy="398678"/>
          </a:xfrm>
          <a:prstGeom prst="roundRect">
            <a:avLst>
              <a:gd name="adj" fmla="val 22936"/>
            </a:avLst>
          </a:prstGeom>
          <a:solidFill>
            <a:srgbClr val="00446A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1909" y="4523537"/>
            <a:ext cx="10877702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5. Architecture Assessment Review — Critical review with actionable next steps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5333" y="5121554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&amp; PRICING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0469" y="5370728"/>
            <a:ext cx="3456432" cy="697687"/>
          </a:xfrm>
          <a:prstGeom prst="roundRect">
            <a:avLst>
              <a:gd name="adj" fmla="val 1310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1909" y="5370728"/>
            <a:ext cx="3273552" cy="697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Maik Ardan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Sr. AI Architect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$11,000/mo — Full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52544" y="5370728"/>
            <a:ext cx="3456432" cy="697687"/>
          </a:xfrm>
          <a:prstGeom prst="roundRect">
            <a:avLst>
              <a:gd name="adj" fmla="val 1310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43984" y="5370728"/>
            <a:ext cx="3273552" cy="697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Edward Mabuyo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Sr. Engineer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$11,000/mo — Full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54619" y="5370728"/>
            <a:ext cx="3456432" cy="697687"/>
          </a:xfrm>
          <a:prstGeom prst="roundRect">
            <a:avLst>
              <a:gd name="adj" fmla="val 1310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46059" y="5370728"/>
            <a:ext cx="3273552" cy="697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Jonathan Cook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Product Owner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$8,500/mo — Half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